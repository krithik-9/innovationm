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24"/>
  </p:notesMasterIdLst>
  <p:sldIdLst>
    <p:sldId id="256" r:id="rId5"/>
    <p:sldId id="271" r:id="rId6"/>
    <p:sldId id="285" r:id="rId7"/>
    <p:sldId id="259" r:id="rId8"/>
    <p:sldId id="286" r:id="rId9"/>
    <p:sldId id="263" r:id="rId10"/>
    <p:sldId id="287" r:id="rId11"/>
    <p:sldId id="288" r:id="rId12"/>
    <p:sldId id="289" r:id="rId13"/>
    <p:sldId id="290" r:id="rId14"/>
    <p:sldId id="282" r:id="rId15"/>
    <p:sldId id="291" r:id="rId16"/>
    <p:sldId id="267" r:id="rId17"/>
    <p:sldId id="268" r:id="rId18"/>
    <p:sldId id="276" r:id="rId19"/>
    <p:sldId id="293" r:id="rId20"/>
    <p:sldId id="294" r:id="rId21"/>
    <p:sldId id="296" r:id="rId22"/>
    <p:sldId id="297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hoever" initials="w" lastIdx="1" clrIdx="0">
    <p:extLst>
      <p:ext uri="{19B8F6BF-5375-455C-9EA6-DF929625EA0E}">
        <p15:presenceInfo xmlns:p15="http://schemas.microsoft.com/office/powerpoint/2012/main" userId="whoev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66D05F5-E71C-44A7-8955-002CACFCF6C6}" v="13" dt="2026-03-07T04:13:03.403"/>
  </p1510:revLst>
</p1510:revInfo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309" autoAdjust="0"/>
    <p:restoredTop sz="94660"/>
  </p:normalViewPr>
  <p:slideViewPr>
    <p:cSldViewPr snapToGrid="0">
      <p:cViewPr varScale="1">
        <p:scale>
          <a:sx n="85" d="100"/>
          <a:sy n="85" d="100"/>
        </p:scale>
        <p:origin x="25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7" d="100"/>
          <a:sy n="57" d="100"/>
        </p:scale>
        <p:origin x="2560" y="5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IKKI SAI BHARADWAJ ." userId="992af854-770d-4382-87e0-c3f7cc3e7b1e" providerId="ADAL" clId="{C3DF8717-F382-4BCC-9DDF-4CD2AA9AA3D3}"/>
    <pc:docChg chg="undo custSel modSld">
      <pc:chgData name="BIKKI SAI BHARADWAJ ." userId="992af854-770d-4382-87e0-c3f7cc3e7b1e" providerId="ADAL" clId="{C3DF8717-F382-4BCC-9DDF-4CD2AA9AA3D3}" dt="2026-03-07T04:15:22.330" v="63" actId="12"/>
      <pc:docMkLst>
        <pc:docMk/>
      </pc:docMkLst>
      <pc:sldChg chg="modSp mod">
        <pc:chgData name="BIKKI SAI BHARADWAJ ." userId="992af854-770d-4382-87e0-c3f7cc3e7b1e" providerId="ADAL" clId="{C3DF8717-F382-4BCC-9DDF-4CD2AA9AA3D3}" dt="2026-03-07T04:11:41.155" v="50" actId="20577"/>
        <pc:sldMkLst>
          <pc:docMk/>
          <pc:sldMk cId="0" sldId="256"/>
        </pc:sldMkLst>
        <pc:spChg chg="mod">
          <ac:chgData name="BIKKI SAI BHARADWAJ ." userId="992af854-770d-4382-87e0-c3f7cc3e7b1e" providerId="ADAL" clId="{C3DF8717-F382-4BCC-9DDF-4CD2AA9AA3D3}" dt="2026-03-07T04:11:41.155" v="50" actId="20577"/>
          <ac:spMkLst>
            <pc:docMk/>
            <pc:sldMk cId="0" sldId="256"/>
            <ac:spMk id="3" creationId="{00000000-0000-0000-0000-000000000000}"/>
          </ac:spMkLst>
        </pc:spChg>
      </pc:sldChg>
      <pc:sldChg chg="addSp delSp modSp mod">
        <pc:chgData name="BIKKI SAI BHARADWAJ ." userId="992af854-770d-4382-87e0-c3f7cc3e7b1e" providerId="ADAL" clId="{C3DF8717-F382-4BCC-9DDF-4CD2AA9AA3D3}" dt="2026-03-07T04:13:03.403" v="60" actId="14100"/>
        <pc:sldMkLst>
          <pc:docMk/>
          <pc:sldMk cId="0" sldId="263"/>
        </pc:sldMkLst>
        <pc:picChg chg="del">
          <ac:chgData name="BIKKI SAI BHARADWAJ ." userId="992af854-770d-4382-87e0-c3f7cc3e7b1e" providerId="ADAL" clId="{C3DF8717-F382-4BCC-9DDF-4CD2AA9AA3D3}" dt="2026-03-07T04:10:38.710" v="35" actId="478"/>
          <ac:picMkLst>
            <pc:docMk/>
            <pc:sldMk cId="0" sldId="263"/>
            <ac:picMk id="11" creationId="{00000000-0000-0000-0000-000000000000}"/>
          </ac:picMkLst>
        </pc:picChg>
        <pc:picChg chg="add mod">
          <ac:chgData name="BIKKI SAI BHARADWAJ ." userId="992af854-770d-4382-87e0-c3f7cc3e7b1e" providerId="ADAL" clId="{C3DF8717-F382-4BCC-9DDF-4CD2AA9AA3D3}" dt="2026-03-07T04:13:03.403" v="60" actId="14100"/>
          <ac:picMkLst>
            <pc:docMk/>
            <pc:sldMk cId="0" sldId="263"/>
            <ac:picMk id="1026" creationId="{741E353B-B744-5EDF-E04C-9425759A6134}"/>
          </ac:picMkLst>
        </pc:picChg>
      </pc:sldChg>
      <pc:sldChg chg="modSp mod">
        <pc:chgData name="BIKKI SAI BHARADWAJ ." userId="992af854-770d-4382-87e0-c3f7cc3e7b1e" providerId="ADAL" clId="{C3DF8717-F382-4BCC-9DDF-4CD2AA9AA3D3}" dt="2026-03-07T04:15:22.330" v="63" actId="12"/>
        <pc:sldMkLst>
          <pc:docMk/>
          <pc:sldMk cId="3408330627" sldId="290"/>
        </pc:sldMkLst>
        <pc:spChg chg="mod">
          <ac:chgData name="BIKKI SAI BHARADWAJ ." userId="992af854-770d-4382-87e0-c3f7cc3e7b1e" providerId="ADAL" clId="{C3DF8717-F382-4BCC-9DDF-4CD2AA9AA3D3}" dt="2026-03-07T04:15:22.330" v="63" actId="12"/>
          <ac:spMkLst>
            <pc:docMk/>
            <pc:sldMk cId="3408330627" sldId="290"/>
            <ac:spMk id="5" creationId="{61C8B9F3-A866-294A-9BD8-192650041566}"/>
          </ac:spMkLst>
        </pc:spChg>
      </pc:sldChg>
      <pc:sldChg chg="addSp delSp modSp mod">
        <pc:chgData name="BIKKI SAI BHARADWAJ ." userId="992af854-770d-4382-87e0-c3f7cc3e7b1e" providerId="ADAL" clId="{C3DF8717-F382-4BCC-9DDF-4CD2AA9AA3D3}" dt="2026-03-07T04:10:08.272" v="34" actId="14100"/>
        <pc:sldMkLst>
          <pc:docMk/>
          <pc:sldMk cId="1445065339" sldId="293"/>
        </pc:sldMkLst>
        <pc:spChg chg="mod">
          <ac:chgData name="BIKKI SAI BHARADWAJ ." userId="992af854-770d-4382-87e0-c3f7cc3e7b1e" providerId="ADAL" clId="{C3DF8717-F382-4BCC-9DDF-4CD2AA9AA3D3}" dt="2026-03-07T04:09:40.936" v="28" actId="1076"/>
          <ac:spMkLst>
            <pc:docMk/>
            <pc:sldMk cId="1445065339" sldId="293"/>
            <ac:spMk id="4" creationId="{BE593EF0-4FF8-BE13-38C7-22F1DE33F852}"/>
          </ac:spMkLst>
        </pc:spChg>
        <pc:picChg chg="del">
          <ac:chgData name="BIKKI SAI BHARADWAJ ." userId="992af854-770d-4382-87e0-c3f7cc3e7b1e" providerId="ADAL" clId="{C3DF8717-F382-4BCC-9DDF-4CD2AA9AA3D3}" dt="2026-03-07T04:09:35.910" v="27" actId="478"/>
          <ac:picMkLst>
            <pc:docMk/>
            <pc:sldMk cId="1445065339" sldId="293"/>
            <ac:picMk id="5" creationId="{37DE1ADD-8C83-8319-0D48-3D231E3AB06D}"/>
          </ac:picMkLst>
        </pc:picChg>
        <pc:picChg chg="add mod">
          <ac:chgData name="BIKKI SAI BHARADWAJ ." userId="992af854-770d-4382-87e0-c3f7cc3e7b1e" providerId="ADAL" clId="{C3DF8717-F382-4BCC-9DDF-4CD2AA9AA3D3}" dt="2026-03-07T04:10:08.272" v="34" actId="14100"/>
          <ac:picMkLst>
            <pc:docMk/>
            <pc:sldMk cId="1445065339" sldId="293"/>
            <ac:picMk id="6" creationId="{470C50E6-3DA2-2F27-0FB3-788F358D54CB}"/>
          </ac:picMkLst>
        </pc:picChg>
      </pc:sldChg>
      <pc:sldChg chg="addSp delSp modSp mod">
        <pc:chgData name="BIKKI SAI BHARADWAJ ." userId="992af854-770d-4382-87e0-c3f7cc3e7b1e" providerId="ADAL" clId="{C3DF8717-F382-4BCC-9DDF-4CD2AA9AA3D3}" dt="2026-03-07T03:11:47.851" v="25" actId="14100"/>
        <pc:sldMkLst>
          <pc:docMk/>
          <pc:sldMk cId="2547450494" sldId="294"/>
        </pc:sldMkLst>
        <pc:picChg chg="add del mod">
          <ac:chgData name="BIKKI SAI BHARADWAJ ." userId="992af854-770d-4382-87e0-c3f7cc3e7b1e" providerId="ADAL" clId="{C3DF8717-F382-4BCC-9DDF-4CD2AA9AA3D3}" dt="2026-03-07T03:10:15.804" v="8" actId="478"/>
          <ac:picMkLst>
            <pc:docMk/>
            <pc:sldMk cId="2547450494" sldId="294"/>
            <ac:picMk id="5" creationId="{1B5C3375-A69A-D732-0E17-3F3670638185}"/>
          </ac:picMkLst>
        </pc:picChg>
        <pc:picChg chg="del">
          <ac:chgData name="BIKKI SAI BHARADWAJ ." userId="992af854-770d-4382-87e0-c3f7cc3e7b1e" providerId="ADAL" clId="{C3DF8717-F382-4BCC-9DDF-4CD2AA9AA3D3}" dt="2026-03-07T03:09:06.635" v="0" actId="478"/>
          <ac:picMkLst>
            <pc:docMk/>
            <pc:sldMk cId="2547450494" sldId="294"/>
            <ac:picMk id="6" creationId="{89F7AD52-08A2-F732-027E-7B486F052EF9}"/>
          </ac:picMkLst>
        </pc:picChg>
        <pc:picChg chg="add mod">
          <ac:chgData name="BIKKI SAI BHARADWAJ ." userId="992af854-770d-4382-87e0-c3f7cc3e7b1e" providerId="ADAL" clId="{C3DF8717-F382-4BCC-9DDF-4CD2AA9AA3D3}" dt="2026-03-07T03:11:47.851" v="25" actId="14100"/>
          <ac:picMkLst>
            <pc:docMk/>
            <pc:sldMk cId="2547450494" sldId="294"/>
            <ac:picMk id="8" creationId="{5C41900A-EC70-ADB3-C52E-0A3D7DF58F33}"/>
          </ac:picMkLst>
        </pc:picChg>
      </pc:sldChg>
      <pc:sldChg chg="addSp delSp modSp mod">
        <pc:chgData name="BIKKI SAI BHARADWAJ ." userId="992af854-770d-4382-87e0-c3f7cc3e7b1e" providerId="ADAL" clId="{C3DF8717-F382-4BCC-9DDF-4CD2AA9AA3D3}" dt="2026-03-07T03:10:39.482" v="14" actId="14100"/>
        <pc:sldMkLst>
          <pc:docMk/>
          <pc:sldMk cId="2185265028" sldId="296"/>
        </pc:sldMkLst>
        <pc:picChg chg="del">
          <ac:chgData name="BIKKI SAI BHARADWAJ ." userId="992af854-770d-4382-87e0-c3f7cc3e7b1e" providerId="ADAL" clId="{C3DF8717-F382-4BCC-9DDF-4CD2AA9AA3D3}" dt="2026-03-07T03:10:02.143" v="7" actId="478"/>
          <ac:picMkLst>
            <pc:docMk/>
            <pc:sldMk cId="2185265028" sldId="296"/>
            <ac:picMk id="5" creationId="{745B265D-DD54-C682-68A8-2EF06CC1FA67}"/>
          </ac:picMkLst>
        </pc:picChg>
        <pc:picChg chg="add mod">
          <ac:chgData name="BIKKI SAI BHARADWAJ ." userId="992af854-770d-4382-87e0-c3f7cc3e7b1e" providerId="ADAL" clId="{C3DF8717-F382-4BCC-9DDF-4CD2AA9AA3D3}" dt="2026-03-07T03:10:39.482" v="14" actId="14100"/>
          <ac:picMkLst>
            <pc:docMk/>
            <pc:sldMk cId="2185265028" sldId="296"/>
            <ac:picMk id="6" creationId="{06AF2FD4-9458-1E1D-C079-71DBE2847392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06490A-2B5A-4A78-88B4-B9069912938D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DC21B1-72C9-48EC-AE48-8F81FCB3CC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09923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DC21B1-72C9-48EC-AE48-8F81FCB3CC8F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33237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4/22/2026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/>
              <a:t>4/22/2026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4/22/2026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/>
              <a:t>4/22/2026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/>
              <a:t>4/22/2026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/>
              <a:t>4/22/2026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  <a:t>4/22/2026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dirty="0"/>
              <a:t>4/22/2026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42B0DB6-F5C7-45FB-8CF3-31B45F9C2DAC}" type="datetimeFigureOut">
              <a:rPr lang="en-US" dirty="0"/>
              <a:t>4/22/2026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/>
              <a:t>4/22/2026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/>
              <a:t>4/22/2026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dirty="0"/>
              <a:t>4/22/2026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318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63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93506" y="857643"/>
            <a:ext cx="8991600" cy="1645920"/>
          </a:xfrm>
        </p:spPr>
        <p:txBody>
          <a:bodyPr>
            <a:normAutofit fontScale="90000"/>
          </a:bodyPr>
          <a:lstStyle/>
          <a:p>
            <a:r>
              <a:rPr lang="en-US" dirty="0"/>
              <a:t>Real-Time E-Commerce User Analytics and Recommendation System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84376" y="2977295"/>
            <a:ext cx="5195394" cy="2634634"/>
          </a:xfrm>
        </p:spPr>
        <p:txBody>
          <a:bodyPr>
            <a:normAutofit/>
          </a:bodyPr>
          <a:lstStyle/>
          <a:p>
            <a:r>
              <a:rPr lang="en-US" b="1" u="sng" dirty="0">
                <a:solidFill>
                  <a:schemeClr val="tx1">
                    <a:lumMod val="95000"/>
                  </a:schemeClr>
                </a:solidFill>
              </a:rPr>
              <a:t>MENTOR: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</a:rPr>
              <a:t>V.Vinisha</a:t>
            </a:r>
            <a:r>
              <a:rPr lang="en-IN" altLang="en-US" dirty="0">
                <a:solidFill>
                  <a:schemeClr val="tx1">
                    <a:lumMod val="95000"/>
                  </a:schemeClr>
                </a:solidFill>
              </a:rPr>
              <a:t>,  </a:t>
            </a:r>
            <a:r>
              <a:rPr lang="en-IN" altLang="en-US" dirty="0" err="1">
                <a:solidFill>
                  <a:schemeClr val="tx1">
                    <a:lumMod val="95000"/>
                  </a:schemeClr>
                </a:solidFill>
              </a:rPr>
              <a:t>Assoc.Prof</a:t>
            </a:r>
            <a:r>
              <a:rPr lang="en-IN" altLang="en-US" dirty="0">
                <a:solidFill>
                  <a:schemeClr val="tx1">
                    <a:lumMod val="95000"/>
                  </a:schemeClr>
                </a:solidFill>
              </a:rPr>
              <a:t>.</a:t>
            </a:r>
            <a:endParaRPr lang="en-US" dirty="0">
              <a:solidFill>
                <a:schemeClr val="tx1">
                  <a:lumMod val="95000"/>
                </a:schemeClr>
              </a:solidFill>
            </a:endParaRPr>
          </a:p>
          <a:p>
            <a:r>
              <a:rPr lang="en-US" b="1" u="sng" dirty="0">
                <a:solidFill>
                  <a:schemeClr val="tx1">
                    <a:lumMod val="95000"/>
                  </a:schemeClr>
                </a:solidFill>
              </a:rPr>
              <a:t>BATCH NO:</a:t>
            </a:r>
            <a:r>
              <a:rPr lang="en-US" b="1" dirty="0">
                <a:solidFill>
                  <a:schemeClr val="tx1">
                    <a:lumMod val="95000"/>
                  </a:schemeClr>
                </a:solidFill>
              </a:rPr>
              <a:t> 13</a:t>
            </a:r>
            <a:endParaRPr lang="en-US" dirty="0">
              <a:solidFill>
                <a:schemeClr val="tx1">
                  <a:lumMod val="95000"/>
                </a:schemeClr>
              </a:solidFill>
            </a:endParaRPr>
          </a:p>
          <a:p>
            <a:r>
              <a:rPr lang="en-US" b="1" u="sng" dirty="0">
                <a:solidFill>
                  <a:schemeClr val="tx1">
                    <a:lumMod val="95000"/>
                  </a:schemeClr>
                </a:solidFill>
              </a:rPr>
              <a:t>TEAM MEMBERS:</a:t>
            </a:r>
          </a:p>
          <a:p>
            <a:r>
              <a:rPr lang="en-IN" dirty="0"/>
              <a:t>Krithik Reddy – 2320030234</a:t>
            </a:r>
            <a:br>
              <a:rPr lang="en-IN"/>
            </a:br>
            <a:r>
              <a:rPr lang="en-IN"/>
              <a:t>Karthikeya - 2320030501</a:t>
            </a:r>
            <a:br>
              <a:rPr lang="en-IN" dirty="0"/>
            </a:br>
            <a:r>
              <a:rPr lang="en-IN" dirty="0"/>
              <a:t>Sai Bharadwaj – 2320030482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7329805" y="3035300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33948" y="1093617"/>
            <a:ext cx="9724103" cy="912163"/>
          </a:xfrm>
        </p:spPr>
        <p:txBody>
          <a:bodyPr>
            <a:normAutofit/>
          </a:bodyPr>
          <a:lstStyle/>
          <a:p>
            <a:r>
              <a:rPr lang="en-US" dirty="0"/>
              <a:t>Table of contents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3948" y="2269067"/>
            <a:ext cx="8021813" cy="4233333"/>
          </a:xfrm>
        </p:spPr>
        <p:txBody>
          <a:bodyPr>
            <a:normAutofit fontScale="92500" lnSpcReduction="20000"/>
          </a:bodyPr>
          <a:lstStyle/>
          <a:p>
            <a:pPr marL="457200" indent="-457200" algn="l">
              <a:buClrTx/>
              <a:buFont typeface="+mj-lt"/>
              <a:buAutoNum type="arabicPeriod"/>
            </a:pPr>
            <a:r>
              <a:rPr lang="en-US" sz="14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  <a:p>
            <a:pPr marL="457200" indent="-457200" algn="l">
              <a:buClrTx/>
              <a:buFont typeface="+mj-lt"/>
              <a:buAutoNum type="arabicPeriod"/>
            </a:pPr>
            <a:r>
              <a:rPr lang="en-IN" sz="14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457200" indent="-457200" algn="l">
              <a:buClrTx/>
              <a:buFont typeface="+mj-lt"/>
              <a:buAutoNum type="arabicPeriod"/>
            </a:pPr>
            <a:r>
              <a:rPr lang="en-IN" sz="14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</a:p>
          <a:p>
            <a:pPr marL="457200" indent="-457200" algn="l">
              <a:buClrTx/>
              <a:buFont typeface="+mj-lt"/>
              <a:buAutoNum type="arabicPeriod"/>
            </a:pPr>
            <a:r>
              <a:rPr lang="en-IN" sz="14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  <a:p>
            <a:pPr marL="457200" indent="-457200" algn="l">
              <a:buClrTx/>
              <a:buFont typeface="+mj-lt"/>
              <a:buAutoNum type="arabicPeriod"/>
            </a:pPr>
            <a:r>
              <a:rPr lang="en-IN" sz="14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US" sz="1400" b="1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>
              <a:buClrTx/>
              <a:buFont typeface="+mj-lt"/>
              <a:buAutoNum type="arabicPeriod"/>
            </a:pPr>
            <a:r>
              <a:rPr lang="en-US" sz="14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  <a:endParaRPr lang="en-IN" sz="1400" b="1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>
              <a:buClrTx/>
              <a:buFont typeface="+mj-lt"/>
              <a:buAutoNum type="arabicPeriod"/>
            </a:pPr>
            <a:r>
              <a:rPr lang="en-IN" sz="14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</a:t>
            </a:r>
          </a:p>
          <a:p>
            <a:pPr marL="457200" indent="-457200" algn="l">
              <a:buClrTx/>
              <a:buFont typeface="+mj-lt"/>
              <a:buAutoNum type="arabicPeriod"/>
            </a:pPr>
            <a:r>
              <a:rPr lang="en-IN" sz="14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</a:t>
            </a:r>
          </a:p>
          <a:p>
            <a:pPr marL="457200" indent="-457200" algn="l">
              <a:buClrTx/>
              <a:buFont typeface="+mj-lt"/>
              <a:buAutoNum type="arabicPeriod"/>
            </a:pPr>
            <a:r>
              <a:rPr lang="en-IN" sz="14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FUNCTIONAL REQUIREMENTS</a:t>
            </a:r>
          </a:p>
          <a:p>
            <a:pPr marL="457200" indent="-457200" algn="l">
              <a:buClrTx/>
              <a:buFont typeface="+mj-lt"/>
              <a:buAutoNum type="arabicPeriod"/>
            </a:pPr>
            <a:r>
              <a:rPr lang="en-IN" sz="14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NON – FUNCTIONAL REQUIREMENTS</a:t>
            </a:r>
          </a:p>
          <a:p>
            <a:pPr marL="457200" indent="-457200" algn="l">
              <a:buClrTx/>
              <a:buFont typeface="+mj-lt"/>
              <a:buAutoNum type="arabicPeriod"/>
            </a:pPr>
            <a:r>
              <a:rPr lang="en-IN" sz="14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  <a:p>
            <a:pPr marL="457200" indent="-457200" algn="l">
              <a:buClrTx/>
              <a:buFont typeface="+mj-lt"/>
              <a:buAutoNum type="arabicPeriod"/>
            </a:pPr>
            <a:r>
              <a:rPr lang="en-IN" sz="14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UML DIAGRAM</a:t>
            </a:r>
          </a:p>
          <a:p>
            <a:pPr marL="457200" indent="-457200" algn="l">
              <a:buClrTx/>
              <a:buFont typeface="+mj-lt"/>
              <a:buAutoNum type="arabicPeriod"/>
            </a:pPr>
            <a:r>
              <a:rPr lang="en-IN" sz="14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ACTIVITY DIAGRAM</a:t>
            </a:r>
          </a:p>
          <a:p>
            <a:pPr marL="457200" indent="-457200" algn="l">
              <a:buClrTx/>
              <a:buFont typeface="+mj-lt"/>
              <a:buAutoNum type="arabicPeriod"/>
            </a:pPr>
            <a:r>
              <a:rPr lang="en-IN" sz="14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DESIGN</a:t>
            </a:r>
          </a:p>
          <a:p>
            <a:pPr marL="457200" indent="-457200" algn="l">
              <a:buClrTx/>
              <a:buFont typeface="+mj-lt"/>
              <a:buAutoNum type="arabicPeriod"/>
            </a:pPr>
            <a:endParaRPr lang="en-IN" sz="1400" b="1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>
              <a:buClrTx/>
              <a:buFont typeface="+mj-lt"/>
              <a:buAutoNum type="arabicPeriod"/>
            </a:pPr>
            <a:endParaRPr lang="en-IN" sz="1400" b="1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>
              <a:buClrTx/>
              <a:buFont typeface="+mj-lt"/>
              <a:buAutoNum type="arabicPeriod"/>
            </a:pPr>
            <a:endParaRPr lang="en-IN" sz="1400" b="1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>
              <a:buClrTx/>
              <a:buFont typeface="+mj-lt"/>
              <a:buAutoNum type="arabicPeriod"/>
            </a:pPr>
            <a:endParaRPr lang="en-IN" sz="1400" b="1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>
              <a:buClrTx/>
              <a:buFont typeface="+mj-lt"/>
              <a:buAutoNum type="arabicPeriod"/>
            </a:pPr>
            <a:endParaRPr lang="en-IN" sz="1400" b="1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>
              <a:buClrTx/>
              <a:buFont typeface="+mj-lt"/>
              <a:buAutoNum type="arabicPeriod"/>
            </a:pPr>
            <a:endParaRPr lang="en-IN" sz="2200" b="1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ClrTx/>
              <a:buFont typeface="Wingdings" panose="05000000000000000000" pitchFamily="2" charset="2"/>
              <a:buChar char="§"/>
            </a:pPr>
            <a:endParaRPr lang="en-IN" dirty="0">
              <a:solidFill>
                <a:schemeClr val="accent6">
                  <a:lumMod val="50000"/>
                </a:schemeClr>
              </a:solidFill>
            </a:endParaRPr>
          </a:p>
          <a:p>
            <a:pPr marL="342900" indent="-342900" algn="l">
              <a:buClrTx/>
              <a:buFont typeface="Wingdings" panose="05000000000000000000" pitchFamily="2" charset="2"/>
              <a:buChar char="§"/>
            </a:pPr>
            <a:endParaRPr lang="en-IN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46193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D18D3-8A6B-71F7-8E6D-6E17F8CBA0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0200" y="442602"/>
            <a:ext cx="8991600" cy="1645920"/>
          </a:xfrm>
        </p:spPr>
        <p:txBody>
          <a:bodyPr>
            <a:normAutofit/>
          </a:bodyPr>
          <a:lstStyle/>
          <a:p>
            <a:r>
              <a:rPr lang="en-IN" sz="3200" dirty="0"/>
              <a:t>Review – 2 comments addressed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175D99-3C6A-252F-1670-A6E945C244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0996" y="3278038"/>
            <a:ext cx="9178506" cy="2314400"/>
          </a:xfrm>
        </p:spPr>
        <p:txBody>
          <a:bodyPr>
            <a:normAutofit/>
          </a:bodyPr>
          <a:lstStyle/>
          <a:p>
            <a:r>
              <a:rPr lang="en-IN" sz="2800" dirty="0"/>
              <a:t>1. Clarify System Architecture</a:t>
            </a:r>
          </a:p>
          <a:p>
            <a:r>
              <a:rPr lang="en-IN" sz="2800" dirty="0"/>
              <a:t>2.</a:t>
            </a:r>
            <a:r>
              <a:rPr lang="en-US" sz="2800" dirty="0"/>
              <a:t> Add Machine Learning Component Clearly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4262459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 shadeToTitle="1">
        <a:gradFill flip="none" rotWithShape="1">
          <a:gsLst>
            <a:gs pos="0">
              <a:schemeClr val="accent2">
                <a:lumMod val="0"/>
                <a:lumOff val="100000"/>
              </a:schemeClr>
            </a:gs>
            <a:gs pos="35000">
              <a:schemeClr val="accent2">
                <a:lumMod val="0"/>
                <a:lumOff val="100000"/>
              </a:schemeClr>
            </a:gs>
            <a:gs pos="100000">
              <a:schemeClr val="accent2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</a:t>
            </a:r>
            <a:endParaRPr lang="en-IN" dirty="0"/>
          </a:p>
        </p:txBody>
      </p:sp>
      <p:sp>
        <p:nvSpPr>
          <p:cNvPr id="5" name="Title 1"/>
          <p:cNvSpPr>
            <a:spLocks noGrp="1"/>
          </p:cNvSpPr>
          <p:nvPr>
            <p:ph idx="1"/>
          </p:nvPr>
        </p:nvSpPr>
        <p:spPr>
          <a:xfrm>
            <a:off x="6322142" y="218767"/>
            <a:ext cx="5692877" cy="6420465"/>
          </a:xfrm>
          <a:noFill/>
          <a:ln w="38100">
            <a:solidFill>
              <a:srgbClr val="404040">
                <a:alpha val="57000"/>
              </a:srgbClr>
            </a:solidFill>
          </a:ln>
        </p:spPr>
        <p:txBody>
          <a:bodyPr>
            <a:normAutofit/>
          </a:bodyPr>
          <a:lstStyle/>
          <a:p>
            <a:r>
              <a:rPr lang="en-US" sz="1800" dirty="0"/>
              <a:t>Modern e-commerce platforms generate massive volumes of user activity data such as clicks, searches, cart additions, and purchases.</a:t>
            </a:r>
          </a:p>
          <a:p>
            <a:r>
              <a:rPr lang="en-US" sz="1800" dirty="0"/>
              <a:t>Traditional systems fail to process high-volume and high-velocity data in real time.</a:t>
            </a:r>
          </a:p>
          <a:p>
            <a:r>
              <a:rPr lang="en-US" sz="1800" dirty="0"/>
              <a:t>This project proposes a </a:t>
            </a:r>
            <a:r>
              <a:rPr lang="en-US" sz="1800" b="1" dirty="0"/>
              <a:t>Real-Time E-Commerce User Analytics Dashboard</a:t>
            </a:r>
            <a:r>
              <a:rPr lang="en-US" sz="1800" dirty="0"/>
              <a:t> using:</a:t>
            </a:r>
          </a:p>
          <a:p>
            <a:r>
              <a:rPr lang="en-US" sz="1800" dirty="0"/>
              <a:t>Apache Kafka (Data Streaming)</a:t>
            </a:r>
          </a:p>
          <a:p>
            <a:r>
              <a:rPr lang="en-US" sz="1800" dirty="0"/>
              <a:t>Apache Spark (Distributed Processing)</a:t>
            </a:r>
          </a:p>
          <a:p>
            <a:r>
              <a:rPr lang="en-US" sz="1800" dirty="0" err="1"/>
              <a:t>InfluxDB</a:t>
            </a:r>
            <a:r>
              <a:rPr lang="en-US" sz="1800" dirty="0"/>
              <a:t> (Time-Series Storage)</a:t>
            </a:r>
          </a:p>
          <a:p>
            <a:r>
              <a:rPr lang="en-US" sz="1800" dirty="0"/>
              <a:t>Grafana (Visualization)</a:t>
            </a:r>
          </a:p>
          <a:p>
            <a:r>
              <a:rPr lang="en-US" sz="1800" dirty="0"/>
              <a:t>The system processes streaming data, integrates demographic information, and provides live analytics and recommendations.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41096-BD79-8031-FD5E-BBB09CEAB3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4539" y="442602"/>
            <a:ext cx="8991600" cy="1403451"/>
          </a:xfrm>
        </p:spPr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BCB5CD-F662-7491-D24A-0DACB0CFC0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84539" y="2142066"/>
            <a:ext cx="9056297" cy="3726931"/>
          </a:xfrm>
        </p:spPr>
        <p:txBody>
          <a:bodyPr>
            <a:noAutofit/>
          </a:bodyPr>
          <a:lstStyle/>
          <a:p>
            <a:pPr algn="l"/>
            <a:r>
              <a:rPr lang="en-US" sz="2400" dirty="0">
                <a:solidFill>
                  <a:schemeClr val="bg1"/>
                </a:solidFill>
              </a:rPr>
              <a:t>E-commerce platforms like Amazon and Flipkart generate millions of events every second.</a:t>
            </a:r>
          </a:p>
          <a:p>
            <a:pPr algn="l"/>
            <a:r>
              <a:rPr lang="en-US" sz="2400" dirty="0">
                <a:solidFill>
                  <a:schemeClr val="bg1"/>
                </a:solidFill>
              </a:rPr>
              <a:t>Businesses need:</a:t>
            </a:r>
          </a:p>
          <a:p>
            <a:pPr algn="l"/>
            <a:r>
              <a:rPr lang="en-US" sz="2400" dirty="0">
                <a:solidFill>
                  <a:schemeClr val="bg1"/>
                </a:solidFill>
              </a:rPr>
              <a:t>&gt; Real-time insights</a:t>
            </a:r>
          </a:p>
          <a:p>
            <a:pPr algn="l"/>
            <a:r>
              <a:rPr lang="en-US" sz="2400" dirty="0">
                <a:solidFill>
                  <a:schemeClr val="bg1"/>
                </a:solidFill>
              </a:rPr>
              <a:t>&gt; Customer behavior analysis</a:t>
            </a:r>
          </a:p>
          <a:p>
            <a:pPr algn="l"/>
            <a:r>
              <a:rPr lang="en-US" sz="2400" dirty="0">
                <a:solidFill>
                  <a:schemeClr val="bg1"/>
                </a:solidFill>
              </a:rPr>
              <a:t>&gt; Sales performance tracking</a:t>
            </a:r>
          </a:p>
          <a:p>
            <a:pPr algn="l"/>
            <a:r>
              <a:rPr lang="en-US" sz="2400" dirty="0">
                <a:solidFill>
                  <a:schemeClr val="bg1"/>
                </a:solidFill>
              </a:rPr>
              <a:t>&gt; Personalized recommendations</a:t>
            </a:r>
          </a:p>
          <a:p>
            <a:pPr algn="l"/>
            <a:r>
              <a:rPr lang="en-US" sz="2400" dirty="0">
                <a:solidFill>
                  <a:schemeClr val="bg1"/>
                </a:solidFill>
              </a:rPr>
              <a:t>Big Data technologies enable scalable and fault-tolerant real-time analytics</a:t>
            </a:r>
            <a:r>
              <a:rPr 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644694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30245" y="493849"/>
            <a:ext cx="7551173" cy="912163"/>
          </a:xfrm>
        </p:spPr>
        <p:txBody>
          <a:bodyPr>
            <a:normAutofit/>
          </a:bodyPr>
          <a:lstStyle/>
          <a:p>
            <a:r>
              <a:rPr lang="en-US" dirty="0"/>
              <a:t>Existing system</a:t>
            </a:r>
            <a:endParaRPr lang="en-IN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294969" y="1803401"/>
            <a:ext cx="5688780" cy="4223774"/>
          </a:xfrm>
        </p:spPr>
        <p:txBody>
          <a:bodyPr>
            <a:noAutofit/>
          </a:bodyPr>
          <a:lstStyle/>
          <a:p>
            <a:pPr algn="l"/>
            <a:r>
              <a:rPr lang="en-US" sz="1400" b="1" u="sng" dirty="0">
                <a:solidFill>
                  <a:schemeClr val="bg1"/>
                </a:solidFill>
              </a:rPr>
              <a:t>In traditional e-commerce systems:</a:t>
            </a:r>
          </a:p>
          <a:p>
            <a:pPr marL="342900" indent="-342900" algn="l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Data is stored in relational databases.</a:t>
            </a:r>
          </a:p>
          <a:p>
            <a:pPr marL="342900" indent="-342900" algn="l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Analytics is performed using batch processing.</a:t>
            </a:r>
          </a:p>
          <a:p>
            <a:pPr marL="342900" indent="-342900" algn="l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Reports are generated daily or weekly.</a:t>
            </a:r>
          </a:p>
          <a:p>
            <a:pPr marL="342900" indent="-342900" algn="l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No real-time monitoring of user behavior.</a:t>
            </a:r>
          </a:p>
          <a:p>
            <a:pPr marL="342900" indent="-342900" algn="l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Recommendations are not updated instantly.</a:t>
            </a:r>
          </a:p>
          <a:p>
            <a:pPr marL="342900" indent="-342900" algn="l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Difficult to handle high-volume streaming data.</a:t>
            </a:r>
          </a:p>
          <a:p>
            <a:pPr algn="l"/>
            <a:r>
              <a:rPr lang="en-US" sz="1400" b="1" dirty="0">
                <a:solidFill>
                  <a:schemeClr val="bg1"/>
                </a:solidFill>
              </a:rPr>
              <a:t> </a:t>
            </a:r>
            <a:r>
              <a:rPr lang="en-US" sz="1400" b="1" u="sng" dirty="0">
                <a:solidFill>
                  <a:schemeClr val="bg1"/>
                </a:solidFill>
              </a:rPr>
              <a:t>Limitations of Existing System:</a:t>
            </a:r>
          </a:p>
          <a:p>
            <a:pPr marL="342900" indent="-342900" algn="l">
              <a:buClr>
                <a:schemeClr val="bg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High latency in insights</a:t>
            </a:r>
          </a:p>
          <a:p>
            <a:pPr marL="342900" indent="-342900" algn="l">
              <a:buClr>
                <a:schemeClr val="bg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No real-time decision making</a:t>
            </a:r>
          </a:p>
          <a:p>
            <a:pPr marL="342900" indent="-342900" algn="l">
              <a:buClr>
                <a:schemeClr val="bg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Limited scalability</a:t>
            </a:r>
          </a:p>
          <a:p>
            <a:pPr marL="342900" indent="-342900" algn="l">
              <a:buClr>
                <a:schemeClr val="bg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Poor handling of streaming data</a:t>
            </a:r>
          </a:p>
          <a:p>
            <a:pPr marL="342900" indent="-342900" algn="l">
              <a:buClr>
                <a:schemeClr val="bg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Manual analysis required</a:t>
            </a:r>
          </a:p>
          <a:p>
            <a:pPr marL="342900" indent="-342900" algn="l">
              <a:buClr>
                <a:schemeClr val="bg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Delayed campaign performance tracking</a:t>
            </a:r>
          </a:p>
        </p:txBody>
      </p:sp>
      <p:pic>
        <p:nvPicPr>
          <p:cNvPr id="1026" name="Picture 2" descr="Types of Recommendation Systems &amp; Their Use Cases | by Maruti Techlabs |  Medium">
            <a:extLst>
              <a:ext uri="{FF2B5EF4-FFF2-40B4-BE49-F238E27FC236}">
                <a16:creationId xmlns:a16="http://schemas.microsoft.com/office/drawing/2014/main" id="{741E353B-B744-5EDF-E04C-9425759A61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3969" y="1998679"/>
            <a:ext cx="5678396" cy="4266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E4E86-3711-92D3-C228-F7B51ED7B5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06902" y="540691"/>
            <a:ext cx="8991600" cy="1305362"/>
          </a:xfrm>
        </p:spPr>
        <p:txBody>
          <a:bodyPr/>
          <a:lstStyle/>
          <a:p>
            <a:r>
              <a:rPr lang="en-IN" dirty="0"/>
              <a:t>Proposed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7D7107-F2E8-EF39-BF89-908B6F1E7C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17599" y="2133600"/>
            <a:ext cx="9050867" cy="3911600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en-IN" sz="2200" dirty="0">
                <a:solidFill>
                  <a:schemeClr val="bg1"/>
                </a:solidFill>
              </a:rPr>
              <a:t>We propose a </a:t>
            </a:r>
            <a:r>
              <a:rPr lang="en-IN" sz="2200" b="1" dirty="0">
                <a:solidFill>
                  <a:schemeClr val="bg1"/>
                </a:solidFill>
              </a:rPr>
              <a:t>Real-Time E-Commerce User Analytics System</a:t>
            </a:r>
            <a:r>
              <a:rPr lang="en-IN" sz="2200" dirty="0">
                <a:solidFill>
                  <a:schemeClr val="bg1"/>
                </a:solidFill>
              </a:rPr>
              <a:t> using Big Data technologies.</a:t>
            </a:r>
          </a:p>
          <a:p>
            <a:pPr marL="285750" indent="-285750" algn="l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chemeClr val="bg1"/>
                </a:solidFill>
              </a:rPr>
              <a:t>Stream user events using </a:t>
            </a:r>
            <a:r>
              <a:rPr lang="en-IN" sz="2200" b="1" dirty="0">
                <a:solidFill>
                  <a:schemeClr val="bg1"/>
                </a:solidFill>
              </a:rPr>
              <a:t>Apache Kafka</a:t>
            </a:r>
            <a:endParaRPr lang="en-IN" sz="2200" dirty="0">
              <a:solidFill>
                <a:schemeClr val="bg1"/>
              </a:solidFill>
            </a:endParaRPr>
          </a:p>
          <a:p>
            <a:pPr marL="285750" indent="-285750" algn="l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chemeClr val="bg1"/>
                </a:solidFill>
              </a:rPr>
              <a:t>Process data in real time using </a:t>
            </a:r>
            <a:r>
              <a:rPr lang="en-IN" sz="2200" b="1" dirty="0">
                <a:solidFill>
                  <a:schemeClr val="bg1"/>
                </a:solidFill>
              </a:rPr>
              <a:t>Apache Spark</a:t>
            </a:r>
            <a:endParaRPr lang="en-IN" sz="2200" dirty="0">
              <a:solidFill>
                <a:schemeClr val="bg1"/>
              </a:solidFill>
            </a:endParaRPr>
          </a:p>
          <a:p>
            <a:pPr marL="285750" indent="-285750" algn="l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chemeClr val="bg1"/>
                </a:solidFill>
              </a:rPr>
              <a:t>Integrate demographic data from </a:t>
            </a:r>
            <a:r>
              <a:rPr lang="en-IN" sz="2200" b="1" dirty="0">
                <a:solidFill>
                  <a:schemeClr val="bg1"/>
                </a:solidFill>
              </a:rPr>
              <a:t>MySQL</a:t>
            </a:r>
            <a:endParaRPr lang="en-IN" sz="2200" dirty="0">
              <a:solidFill>
                <a:schemeClr val="bg1"/>
              </a:solidFill>
            </a:endParaRPr>
          </a:p>
          <a:p>
            <a:pPr marL="285750" indent="-285750" algn="l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chemeClr val="bg1"/>
                </a:solidFill>
              </a:rPr>
              <a:t>Apply ML models for prediction &amp; segmentation</a:t>
            </a:r>
          </a:p>
          <a:p>
            <a:pPr marL="285750" indent="-285750" algn="l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chemeClr val="bg1"/>
                </a:solidFill>
              </a:rPr>
              <a:t>Store metrics in </a:t>
            </a:r>
            <a:r>
              <a:rPr lang="en-IN" sz="2200" b="1" dirty="0" err="1">
                <a:solidFill>
                  <a:schemeClr val="bg1"/>
                </a:solidFill>
              </a:rPr>
              <a:t>InfluxDB</a:t>
            </a:r>
            <a:endParaRPr lang="en-IN" sz="2200" dirty="0">
              <a:solidFill>
                <a:schemeClr val="bg1"/>
              </a:solidFill>
            </a:endParaRPr>
          </a:p>
          <a:p>
            <a:pPr marL="285750" indent="-285750" algn="l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chemeClr val="bg1"/>
                </a:solidFill>
              </a:rPr>
              <a:t>Visualize insights using </a:t>
            </a:r>
            <a:r>
              <a:rPr lang="en-IN" sz="2200" b="1" dirty="0">
                <a:solidFill>
                  <a:schemeClr val="bg1"/>
                </a:solidFill>
              </a:rPr>
              <a:t>Grafana</a:t>
            </a:r>
          </a:p>
          <a:p>
            <a:pPr algn="l"/>
            <a:r>
              <a:rPr lang="en-US" sz="2200" b="1" u="sng" dirty="0">
                <a:solidFill>
                  <a:schemeClr val="bg1"/>
                </a:solidFill>
              </a:rPr>
              <a:t>Benefits</a:t>
            </a:r>
          </a:p>
          <a:p>
            <a:pPr marL="285750" indent="-285750" algn="l">
              <a:buClr>
                <a:schemeClr val="bg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</a:rPr>
              <a:t>Real-time analytics</a:t>
            </a:r>
          </a:p>
          <a:p>
            <a:pPr marL="285750" indent="-285750" algn="l">
              <a:buClr>
                <a:schemeClr val="bg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</a:rPr>
              <a:t>Scalable &amp; fault-tolerant</a:t>
            </a:r>
          </a:p>
          <a:p>
            <a:pPr marL="285750" indent="-285750" algn="l">
              <a:buClr>
                <a:schemeClr val="bg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</a:rPr>
              <a:t>Faster business decisions</a:t>
            </a:r>
          </a:p>
          <a:p>
            <a:pPr algn="l"/>
            <a:endParaRPr lang="en-IN" sz="1600" dirty="0">
              <a:solidFill>
                <a:schemeClr val="bg1"/>
              </a:solidFill>
            </a:endParaRP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211075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7F80C-B9DB-29BB-E52D-C17D80EB23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0200" y="416378"/>
            <a:ext cx="8991600" cy="1239894"/>
          </a:xfrm>
        </p:spPr>
        <p:txBody>
          <a:bodyPr/>
          <a:lstStyle/>
          <a:p>
            <a:r>
              <a:rPr lang="en-IN" dirty="0"/>
              <a:t>Objectives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6C8BEA-80A6-F443-CAA6-C2DB3E6274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00200" y="2065867"/>
            <a:ext cx="8991600" cy="3170436"/>
          </a:xfrm>
        </p:spPr>
        <p:txBody>
          <a:bodyPr>
            <a:normAutofit/>
          </a:bodyPr>
          <a:lstStyle/>
          <a:p>
            <a:pPr marL="342900" indent="-342900" algn="l">
              <a:buClr>
                <a:schemeClr val="bg1"/>
              </a:buClr>
              <a:buFont typeface="+mj-lt"/>
              <a:buAutoNum type="arabicParenR"/>
            </a:pPr>
            <a:r>
              <a:rPr lang="en-IN" sz="2400" dirty="0">
                <a:solidFill>
                  <a:schemeClr val="bg1"/>
                </a:solidFill>
              </a:rPr>
              <a:t>Design a real-time data pipeline for e-commerce events</a:t>
            </a:r>
          </a:p>
          <a:p>
            <a:pPr marL="342900" indent="-342900" algn="l">
              <a:buClr>
                <a:schemeClr val="bg1"/>
              </a:buClr>
              <a:buFont typeface="+mj-lt"/>
              <a:buAutoNum type="arabicParenR"/>
            </a:pPr>
            <a:r>
              <a:rPr lang="en-IN" sz="2400" dirty="0">
                <a:solidFill>
                  <a:schemeClr val="bg1"/>
                </a:solidFill>
              </a:rPr>
              <a:t>Process streaming data using Apache Kafka &amp; Spark</a:t>
            </a:r>
          </a:p>
          <a:p>
            <a:pPr marL="342900" indent="-342900" algn="l">
              <a:buClr>
                <a:schemeClr val="bg1"/>
              </a:buClr>
              <a:buFont typeface="+mj-lt"/>
              <a:buAutoNum type="arabicParenR"/>
            </a:pPr>
            <a:r>
              <a:rPr lang="en-IN" sz="2400" dirty="0">
                <a:solidFill>
                  <a:schemeClr val="bg1"/>
                </a:solidFill>
              </a:rPr>
              <a:t>Integrate structured demographic data</a:t>
            </a:r>
          </a:p>
          <a:p>
            <a:pPr marL="342900" indent="-342900" algn="l">
              <a:buClr>
                <a:schemeClr val="bg1"/>
              </a:buClr>
              <a:buFont typeface="+mj-lt"/>
              <a:buAutoNum type="arabicParenR"/>
            </a:pPr>
            <a:r>
              <a:rPr lang="en-IN" sz="2400" dirty="0">
                <a:solidFill>
                  <a:schemeClr val="bg1"/>
                </a:solidFill>
              </a:rPr>
              <a:t>Apply ML models for prediction &amp; segmentation</a:t>
            </a:r>
          </a:p>
          <a:p>
            <a:pPr marL="342900" indent="-342900" algn="l">
              <a:buClr>
                <a:schemeClr val="bg1"/>
              </a:buClr>
              <a:buFont typeface="+mj-lt"/>
              <a:buAutoNum type="arabicParenR"/>
            </a:pPr>
            <a:r>
              <a:rPr lang="en-IN" sz="2400" dirty="0">
                <a:solidFill>
                  <a:schemeClr val="bg1"/>
                </a:solidFill>
              </a:rPr>
              <a:t>Build interactive real-time dashboards</a:t>
            </a:r>
          </a:p>
          <a:p>
            <a:pPr marL="342900" indent="-342900" algn="l">
              <a:buClr>
                <a:schemeClr val="bg1"/>
              </a:buClr>
              <a:buFont typeface="+mj-lt"/>
              <a:buAutoNum type="arabicParenR"/>
            </a:pPr>
            <a:r>
              <a:rPr lang="en-IN" sz="2400" dirty="0">
                <a:solidFill>
                  <a:schemeClr val="bg1"/>
                </a:solidFill>
              </a:rPr>
              <a:t>Enable data-driven business decisions</a:t>
            </a:r>
          </a:p>
        </p:txBody>
      </p:sp>
    </p:spTree>
    <p:extLst>
      <p:ext uri="{BB962C8B-B14F-4D97-AF65-F5344CB8AC3E}">
        <p14:creationId xmlns:p14="http://schemas.microsoft.com/office/powerpoint/2010/main" val="20711313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5161B-F867-2E5A-880D-35118E6E95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0200" y="405441"/>
            <a:ext cx="8991600" cy="1239893"/>
          </a:xfrm>
        </p:spPr>
        <p:txBody>
          <a:bodyPr/>
          <a:lstStyle/>
          <a:p>
            <a:r>
              <a:rPr lang="en-IN" dirty="0"/>
              <a:t>Software requirements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29906899-38C1-663C-A4BF-ABC708D6A47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600200" y="1846659"/>
            <a:ext cx="8619067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 Apache Kafka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– Data Streaming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Apache Spark (Structured Streaming)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– Real-time Processing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Spark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MLlib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– Machine Learning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MySQL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– Structured Data Storage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400" b="1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400" b="1" dirty="0" err="1">
                <a:solidFill>
                  <a:schemeClr val="bg1"/>
                </a:solidFill>
                <a:latin typeface="Arial" panose="020B0604020202020204" pitchFamily="34" charset="0"/>
              </a:rPr>
              <a:t>I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nfluxDB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– Time-Series Database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Grafana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– Dashboard Visualization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Docker Compose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– Container Management</a:t>
            </a:r>
          </a:p>
        </p:txBody>
      </p:sp>
    </p:spTree>
    <p:extLst>
      <p:ext uri="{BB962C8B-B14F-4D97-AF65-F5344CB8AC3E}">
        <p14:creationId xmlns:p14="http://schemas.microsoft.com/office/powerpoint/2010/main" val="16189064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00DDD-652B-7175-744D-D2990D9C81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0200" y="474454"/>
            <a:ext cx="8991600" cy="1147312"/>
          </a:xfrm>
        </p:spPr>
        <p:txBody>
          <a:bodyPr/>
          <a:lstStyle/>
          <a:p>
            <a:r>
              <a:rPr lang="en-IN" dirty="0"/>
              <a:t>Hardware requirements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1C8B9F3-A866-294A-9BD8-19265004156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600200" y="2137877"/>
            <a:ext cx="9220200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CPU: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Intel i5 or higher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RAM: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8 GB or higher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Storage: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20 GB free space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OS: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Windows / Linux / macOS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400" b="1" dirty="0">
                <a:solidFill>
                  <a:schemeClr val="bg1"/>
                </a:solidFill>
                <a:latin typeface="Arial" panose="020B0604020202020204" pitchFamily="34" charset="0"/>
              </a:rPr>
              <a:t> I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nternet: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Stable connection for cloud &amp; streaming setup</a:t>
            </a:r>
          </a:p>
        </p:txBody>
      </p:sp>
    </p:spTree>
    <p:extLst>
      <p:ext uri="{BB962C8B-B14F-4D97-AF65-F5344CB8AC3E}">
        <p14:creationId xmlns:p14="http://schemas.microsoft.com/office/powerpoint/2010/main" val="34083306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348239"/>
            <a:ext cx="8703733" cy="974116"/>
          </a:xfrm>
        </p:spPr>
        <p:txBody>
          <a:bodyPr>
            <a:no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 requirements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AD370F-66A5-D81F-C019-4E8D6007200A}"/>
              </a:ext>
            </a:extLst>
          </p:cNvPr>
          <p:cNvSpPr txBox="1"/>
          <p:nvPr/>
        </p:nvSpPr>
        <p:spPr>
          <a:xfrm>
            <a:off x="1371600" y="1723367"/>
            <a:ext cx="8703733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</a:rPr>
              <a:t>System Should capture real time user events (clicks, cart, purchases)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</a:rPr>
              <a:t>Process streaming data using </a:t>
            </a:r>
            <a:r>
              <a:rPr lang="en-IN" sz="2400" dirty="0" err="1">
                <a:solidFill>
                  <a:schemeClr val="bg1"/>
                </a:solidFill>
              </a:rPr>
              <a:t>kafka</a:t>
            </a:r>
            <a:r>
              <a:rPr lang="en-IN" sz="2400" dirty="0">
                <a:solidFill>
                  <a:schemeClr val="bg1"/>
                </a:solidFill>
              </a:rPr>
              <a:t> and spark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 err="1">
                <a:solidFill>
                  <a:schemeClr val="bg1"/>
                </a:solidFill>
              </a:rPr>
              <a:t>Integerate</a:t>
            </a:r>
            <a:r>
              <a:rPr lang="en-IN" sz="2400" dirty="0">
                <a:solidFill>
                  <a:schemeClr val="bg1"/>
                </a:solidFill>
              </a:rPr>
              <a:t> demographic data from MySQL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</a:rPr>
              <a:t>Apply ML models for prediction and segmentation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</a:rPr>
              <a:t>Store processed metrics in </a:t>
            </a:r>
            <a:r>
              <a:rPr lang="en-IN" sz="2400" dirty="0" err="1">
                <a:solidFill>
                  <a:schemeClr val="bg1"/>
                </a:solidFill>
              </a:rPr>
              <a:t>InfluxDB</a:t>
            </a:r>
            <a:endParaRPr lang="en-IN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</a:rPr>
              <a:t>Display live insights through Grafana dashboard</a:t>
            </a:r>
          </a:p>
        </p:txBody>
      </p:sp>
    </p:spTree>
    <p:extLst>
      <p:ext uri="{BB962C8B-B14F-4D97-AF65-F5344CB8AC3E}">
        <p14:creationId xmlns:p14="http://schemas.microsoft.com/office/powerpoint/2010/main" val="34122291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C7674-5984-2F59-F6CD-2D0A70C83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0200" y="345058"/>
            <a:ext cx="8991600" cy="1052422"/>
          </a:xfrm>
        </p:spPr>
        <p:txBody>
          <a:bodyPr>
            <a:normAutofit fontScale="90000"/>
          </a:bodyPr>
          <a:lstStyle/>
          <a:p>
            <a:r>
              <a:rPr lang="en-IN" dirty="0"/>
              <a:t>Non - functional requirements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54DD94B-142C-7CEB-5BAC-D9845A12F97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328738" y="2233603"/>
            <a:ext cx="9626161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Scalability: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Handle high-volume streaming data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Reliability: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Ensure fault-tolerant data processing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Performance: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Provide low-latency real-time analytics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Security: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Secure data transmission and access control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Availability: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System should run continuously with minimal downtime</a:t>
            </a:r>
          </a:p>
        </p:txBody>
      </p:sp>
    </p:spTree>
    <p:extLst>
      <p:ext uri="{BB962C8B-B14F-4D97-AF65-F5344CB8AC3E}">
        <p14:creationId xmlns:p14="http://schemas.microsoft.com/office/powerpoint/2010/main" val="29949990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20413" y="322839"/>
            <a:ext cx="7551173" cy="974116"/>
          </a:xfrm>
        </p:spPr>
        <p:txBody>
          <a:bodyPr>
            <a:normAutofit/>
          </a:bodyPr>
          <a:lstStyle/>
          <a:p>
            <a:r>
              <a:rPr lang="en-US" dirty="0"/>
              <a:t>Literature survey</a:t>
            </a:r>
            <a:endParaRPr lang="en-IN" dirty="0"/>
          </a:p>
        </p:txBody>
      </p:sp>
      <p:graphicFrame>
        <p:nvGraphicFramePr>
          <p:cNvPr id="3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5009197"/>
              </p:ext>
            </p:extLst>
          </p:nvPr>
        </p:nvGraphicFramePr>
        <p:xfrm>
          <a:off x="864079" y="1742535"/>
          <a:ext cx="10463841" cy="479262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373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34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09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32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6877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38805">
                <a:tc>
                  <a:txBody>
                    <a:bodyPr/>
                    <a:lstStyle/>
                    <a:p>
                      <a:pPr algn="ctr"/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 of the research paper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Technologies used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Advantages/ Disadvantages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63135">
                <a:tc>
                  <a:txBody>
                    <a:bodyPr/>
                    <a:lstStyle/>
                    <a:p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100" dirty="0"/>
                        <a:t>AI-Driven Recommendations</a:t>
                      </a:r>
                      <a:endParaRPr lang="en-IN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100" dirty="0"/>
                        <a:t>Sabina-Cristiana Necula</a:t>
                      </a:r>
                      <a:endParaRPr lang="en-IN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100" dirty="0"/>
                        <a:t>AI-based recommendation systems</a:t>
                      </a:r>
                      <a:endParaRPr lang="en-IN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Advantage: Improves personalization and customer experience. </a:t>
                      </a:r>
                      <a:br>
                        <a:rPr lang="en-US" sz="1100" dirty="0"/>
                      </a:br>
                      <a:r>
                        <a:rPr lang="en-US" sz="1100" dirty="0"/>
                        <a:t>Disadvantage: Requires high memory and processing power.</a:t>
                      </a:r>
                      <a:endParaRPr lang="en-IN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17942">
                <a:tc>
                  <a:txBody>
                    <a:bodyPr/>
                    <a:lstStyle/>
                    <a:p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100" dirty="0"/>
                        <a:t>The Application of Artificial Intelligence in Electronic Commerce</a:t>
                      </a:r>
                      <a:endParaRPr lang="en-IN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sz="1100" dirty="0"/>
                        <a:t>Xia Song, Shiqi Yang, </a:t>
                      </a:r>
                      <a:r>
                        <a:rPr lang="en-IN" sz="1100" dirty="0" err="1"/>
                        <a:t>Ziqing</a:t>
                      </a:r>
                      <a:r>
                        <a:rPr lang="en-IN" sz="1100" dirty="0"/>
                        <a:t> Huang, Tao Huang</a:t>
                      </a:r>
                      <a:endParaRPr lang="en-IN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100" dirty="0" err="1"/>
                        <a:t>Artificial</a:t>
                      </a:r>
                      <a:r>
                        <a:rPr lang="fr-FR" sz="1100" dirty="0"/>
                        <a:t> Intelligence techniques in E-commerce</a:t>
                      </a:r>
                      <a:endParaRPr lang="en-IN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Advantage: Enhances automation and decision-making. </a:t>
                      </a:r>
                      <a:br>
                        <a:rPr lang="en-US" sz="1100" dirty="0"/>
                      </a:br>
                      <a:r>
                        <a:rPr lang="en-US" sz="1100" dirty="0"/>
                        <a:t>Disadvantage: Needs updates with deep learning and big data frameworks.</a:t>
                      </a:r>
                      <a:endParaRPr lang="en-IN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72744">
                <a:tc>
                  <a:txBody>
                    <a:bodyPr/>
                    <a:lstStyle/>
                    <a:p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sz="1100" dirty="0"/>
                        <a:t>Big Data Analytics in E-commerce</a:t>
                      </a:r>
                      <a:endParaRPr lang="en-IN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sz="1100" dirty="0"/>
                        <a:t>Samuel Fosso Wamba</a:t>
                      </a:r>
                      <a:endParaRPr lang="en-IN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100" dirty="0"/>
                        <a:t>Big Data Analytics</a:t>
                      </a:r>
                      <a:endParaRPr lang="en-IN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Advantage: Enables large-scale data analysis. </a:t>
                      </a:r>
                      <a:br>
                        <a:rPr lang="en-US" sz="1100" dirty="0"/>
                      </a:br>
                      <a:r>
                        <a:rPr lang="en-US" sz="1100" dirty="0"/>
                        <a:t>Disadvantage: Assumes clean data; struggles with noisy real-world data.</a:t>
                      </a:r>
                      <a:endParaRPr lang="en-IN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  <a:endParaRPr lang="en-IN" dirty="0"/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FDA493FD-6CAC-82F4-A981-CEAC1275D6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8789536"/>
              </p:ext>
            </p:extLst>
          </p:nvPr>
        </p:nvGraphicFramePr>
        <p:xfrm>
          <a:off x="517585" y="897147"/>
          <a:ext cx="10964174" cy="536563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333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768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186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956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396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93238">
                <a:tc>
                  <a:txBody>
                    <a:bodyPr/>
                    <a:lstStyle/>
                    <a:p>
                      <a:pPr algn="ctr"/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 of the research paper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Technologies used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Advantages/ Disadvantages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04574"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IN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The Increasing Importance of AI Applications in E-commerce</a:t>
                      </a:r>
                      <a:endParaRPr lang="en-IN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sz="1100" dirty="0"/>
                        <a:t>A.A. Nimbalkar, A.T. Berad</a:t>
                      </a:r>
                      <a:endParaRPr lang="en-IN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100" dirty="0"/>
                        <a:t>AI Applications</a:t>
                      </a:r>
                      <a:endParaRPr lang="en-IN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Advantage: Shows impact of AI in business growth. </a:t>
                      </a:r>
                      <a:br>
                        <a:rPr lang="en-US" sz="1100" dirty="0"/>
                      </a:br>
                      <a:r>
                        <a:rPr lang="en-US" sz="1100" dirty="0"/>
                        <a:t>Disadvantage: Tested on limited datasets; lacks real-world diversity.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4725831"/>
                  </a:ext>
                </a:extLst>
              </a:tr>
              <a:tr h="1299562">
                <a:tc>
                  <a:txBody>
                    <a:bodyPr/>
                    <a:lstStyle/>
                    <a:p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dirty="0"/>
                        <a:t>User-Centric Internal Tools in E-commerce</a:t>
                      </a:r>
                      <a:endParaRPr lang="en-IN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sz="1100" dirty="0"/>
                        <a:t>Xue Song</a:t>
                      </a:r>
                      <a:endParaRPr lang="en-IN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100" dirty="0"/>
                        <a:t>Sentiment Analysis (R-based tools)</a:t>
                      </a:r>
                      <a:endParaRPr lang="en-IN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Advantage: Focuses on customer feedback analysis. </a:t>
                      </a:r>
                      <a:br>
                        <a:rPr lang="en-US" sz="1100" dirty="0"/>
                      </a:br>
                      <a:r>
                        <a:rPr lang="en-US" sz="1100" dirty="0"/>
                        <a:t>Disadvantage: Does not use big data frameworks like Spark/Hadoop.</a:t>
                      </a:r>
                      <a:endParaRPr lang="en-IN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702398"/>
                  </a:ext>
                </a:extLst>
              </a:tr>
              <a:tr h="1768256">
                <a:tc>
                  <a:txBody>
                    <a:bodyPr/>
                    <a:lstStyle/>
                    <a:p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100" dirty="0"/>
                        <a:t>Real-Time Stream Processing with Apache Kafka and Spark</a:t>
                      </a:r>
                      <a:endParaRPr lang="en-IN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100" dirty="0"/>
                        <a:t>Jay Kreps, Neha Narkhede, Matei Zaharia</a:t>
                      </a:r>
                      <a:endParaRPr lang="en-IN" sz="1100" b="0" i="0" u="none" kern="12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dirty="0"/>
                        <a:t>Apache Kafka, Apache Spark</a:t>
                      </a:r>
                      <a:endParaRPr lang="en-IN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Advantage: Supports scalable real-time data processing. </a:t>
                      </a:r>
                      <a:br>
                        <a:rPr lang="en-US" sz="1100" dirty="0"/>
                      </a:br>
                      <a:r>
                        <a:rPr lang="en-US" sz="1100" dirty="0"/>
                        <a:t>Disadvantage: Requires complex setup and cluster management.</a:t>
                      </a:r>
                      <a:endParaRPr lang="en-IN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889593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30245" y="493849"/>
            <a:ext cx="7551173" cy="912163"/>
          </a:xfrm>
        </p:spPr>
        <p:txBody>
          <a:bodyPr>
            <a:normAutofit/>
          </a:bodyPr>
          <a:lstStyle/>
          <a:p>
            <a:r>
              <a:rPr lang="en-US" dirty="0"/>
              <a:t>System Architecture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55C126-5FBD-A73C-4C78-529EEA382E85}"/>
              </a:ext>
            </a:extLst>
          </p:cNvPr>
          <p:cNvSpPr txBox="1"/>
          <p:nvPr/>
        </p:nvSpPr>
        <p:spPr>
          <a:xfrm flipH="1">
            <a:off x="914706" y="1621549"/>
            <a:ext cx="1038224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The system collects data from MySQL databases and real-time user events from the e-commerce application. Historical data is processed using Apache Spark, while live events are streamed through Apache Kafka. Processed metrics are stored in </a:t>
            </a:r>
            <a:r>
              <a:rPr lang="en-US" sz="1400" dirty="0" err="1">
                <a:solidFill>
                  <a:schemeClr val="bg1"/>
                </a:solidFill>
              </a:rPr>
              <a:t>InfluxDB</a:t>
            </a:r>
            <a:r>
              <a:rPr lang="en-US" sz="1400" dirty="0">
                <a:solidFill>
                  <a:schemeClr val="bg1"/>
                </a:solidFill>
              </a:rPr>
              <a:t>, where machine learning models perform prediction and segmentation. Grafana dashboards visualize real-time insights for business users</a:t>
            </a:r>
            <a:r>
              <a:rPr lang="en-US" sz="1400" dirty="0"/>
              <a:t>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096028F-2A4D-1BD6-DE09-7B98FEE6BE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706" y="2446868"/>
            <a:ext cx="10202027" cy="4243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7330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B12A1-D91A-9567-F858-18F8FD227B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0200" y="380144"/>
            <a:ext cx="8991600" cy="999923"/>
          </a:xfrm>
        </p:spPr>
        <p:txBody>
          <a:bodyPr/>
          <a:lstStyle/>
          <a:p>
            <a:r>
              <a:rPr lang="en-IN" dirty="0" err="1"/>
              <a:t>Uml</a:t>
            </a:r>
            <a:r>
              <a:rPr lang="en-IN" dirty="0"/>
              <a:t> diagram</a:t>
            </a:r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BE593EF0-4FF8-BE13-38C7-22F1DE33F852}"/>
              </a:ext>
            </a:extLst>
          </p:cNvPr>
          <p:cNvSpPr>
            <a:spLocks noGrp="1" noChangeAspect="1" noChangeArrowheads="1"/>
          </p:cNvSpPr>
          <p:nvPr>
            <p:ph type="subTitle" idx="1"/>
          </p:nvPr>
        </p:nvSpPr>
        <p:spPr bwMode="auto">
          <a:xfrm>
            <a:off x="2235200" y="2015066"/>
            <a:ext cx="6731000" cy="3484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70C50E6-3DA2-2F27-0FB3-788F358D54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1524000"/>
            <a:ext cx="8991600" cy="5240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50653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79666-4762-8632-DE15-1C167596B7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0200" y="414868"/>
            <a:ext cx="8991600" cy="999066"/>
          </a:xfrm>
        </p:spPr>
        <p:txBody>
          <a:bodyPr/>
          <a:lstStyle/>
          <a:p>
            <a:r>
              <a:rPr lang="en-IN" dirty="0"/>
              <a:t>Activity diagram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05DB0B-82D3-C796-2751-3D25312A07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5194" y="2015067"/>
            <a:ext cx="6801612" cy="3577371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C41900A-EC70-ADB3-C52E-0A3D7DF58F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5194" y="1515533"/>
            <a:ext cx="6801612" cy="5198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4504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AE257-8A76-FAE5-BE9D-AF1C243339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0200" y="347134"/>
            <a:ext cx="8991600" cy="1239894"/>
          </a:xfrm>
        </p:spPr>
        <p:txBody>
          <a:bodyPr/>
          <a:lstStyle/>
          <a:p>
            <a:r>
              <a:rPr lang="en-IN" dirty="0"/>
              <a:t>Module design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F7CD92-4B9D-13AF-4079-A1B121EEB3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6AF2FD4-9458-1E1D-C079-71DBE28473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1" y="1845733"/>
            <a:ext cx="8991600" cy="4817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52650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238D9977-3599-9D98-5444-768A6924E2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8997571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AAEFFDD5A31A24687351D2C1139D42D" ma:contentTypeVersion="11" ma:contentTypeDescription="Create a new document." ma:contentTypeScope="" ma:versionID="84e9f9815432960e922f320ac644d3af">
  <xsd:schema xmlns:xsd="http://www.w3.org/2001/XMLSchema" xmlns:xs="http://www.w3.org/2001/XMLSchema" xmlns:p="http://schemas.microsoft.com/office/2006/metadata/properties" xmlns:ns3="81ca784a-0ff6-4974-862d-25559d747f51" targetNamespace="http://schemas.microsoft.com/office/2006/metadata/properties" ma:root="true" ma:fieldsID="742f5cd2aee56ac442084fec3c83b312" ns3:_="">
    <xsd:import namespace="81ca784a-0ff6-4974-862d-25559d747f51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3:MediaServiceDateTaken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ca784a-0ff6-4974-862d-25559d747f5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81ca784a-0ff6-4974-862d-25559d747f51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1A6C17C-3807-43B5-B952-73D8BB30C6B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1ca784a-0ff6-4974-862d-25559d747f5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F06CE5C-4A68-481C-BE53-2B86A3F40313}">
  <ds:schemaRefs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schemas.microsoft.com/office/2006/documentManagement/types"/>
    <ds:schemaRef ds:uri="http://schemas.microsoft.com/office/2006/metadata/properties"/>
    <ds:schemaRef ds:uri="http://www.w3.org/XML/1998/namespace"/>
    <ds:schemaRef ds:uri="http://purl.org/dc/dcmitype/"/>
    <ds:schemaRef ds:uri="81ca784a-0ff6-4974-862d-25559d747f51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763270E6-BB00-4F57-8E7A-C62FC89ABFA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1021</TotalTime>
  <Words>876</Words>
  <Application>Microsoft Office PowerPoint</Application>
  <PresentationFormat>Widescreen</PresentationFormat>
  <Paragraphs>160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Calibri</vt:lpstr>
      <vt:lpstr>Gill Sans MT</vt:lpstr>
      <vt:lpstr>Times New Roman</vt:lpstr>
      <vt:lpstr>Wingdings</vt:lpstr>
      <vt:lpstr>Parcel</vt:lpstr>
      <vt:lpstr>Real-Time E-Commerce User Analytics and Recommendation System</vt:lpstr>
      <vt:lpstr>Table of contents</vt:lpstr>
      <vt:lpstr>Review – 2 comments addressed</vt:lpstr>
      <vt:lpstr>ABSTRACT</vt:lpstr>
      <vt:lpstr>Introduction</vt:lpstr>
      <vt:lpstr>Existing system</vt:lpstr>
      <vt:lpstr>Proposed system</vt:lpstr>
      <vt:lpstr>Objectives</vt:lpstr>
      <vt:lpstr>Software requirements</vt:lpstr>
      <vt:lpstr>Hardware requirements</vt:lpstr>
      <vt:lpstr>FUNCTIONAL  requirements</vt:lpstr>
      <vt:lpstr>Non - functional requirements</vt:lpstr>
      <vt:lpstr>Literature survey</vt:lpstr>
      <vt:lpstr>Thank you</vt:lpstr>
      <vt:lpstr>System Architecture</vt:lpstr>
      <vt:lpstr>Uml diagram</vt:lpstr>
      <vt:lpstr>Activity diagram</vt:lpstr>
      <vt:lpstr>Module design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Preserving performance of ml models using MLOps</dc:title>
  <dc:creator>Varshika Dasari</dc:creator>
  <cp:lastModifiedBy>Krithik Reddy ..</cp:lastModifiedBy>
  <cp:revision>20</cp:revision>
  <dcterms:created xsi:type="dcterms:W3CDTF">2022-09-15T19:17:00Z</dcterms:created>
  <dcterms:modified xsi:type="dcterms:W3CDTF">2026-04-22T14:23:34Z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3936C35BB73A4955AF09C77BF7191492</vt:lpwstr>
  </property>
  <property fmtid="{D5CDD505-2E9C-101B-9397-08002B2CF9AE}" pid="3" name="KSOProductBuildVer">
    <vt:lpwstr>1033-11.2.0.11306</vt:lpwstr>
  </property>
  <property fmtid="{D5CDD505-2E9C-101B-9397-08002B2CF9AE}" pid="4" name="ContentTypeId">
    <vt:lpwstr>0x010100AAAEFFDD5A31A24687351D2C1139D42D</vt:lpwstr>
  </property>
</Properties>
</file>