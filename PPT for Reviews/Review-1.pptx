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0" r:id="rId2"/>
  </p:sldMasterIdLst>
  <p:notesMasterIdLst>
    <p:notesMasterId r:id="rId15"/>
  </p:notesMasterIdLst>
  <p:sldIdLst>
    <p:sldId id="256" r:id="rId3"/>
    <p:sldId id="257" r:id="rId4"/>
    <p:sldId id="267" r:id="rId5"/>
    <p:sldId id="258" r:id="rId6"/>
    <p:sldId id="259" r:id="rId7"/>
    <p:sldId id="261" r:id="rId8"/>
    <p:sldId id="266" r:id="rId9"/>
    <p:sldId id="260" r:id="rId10"/>
    <p:sldId id="262" r:id="rId11"/>
    <p:sldId id="263" r:id="rId12"/>
    <p:sldId id="264" r:id="rId13"/>
    <p:sldId id="265" r:id="rId14"/>
  </p:sldIdLst>
  <p:sldSz cx="12192000" cy="6858000"/>
  <p:notesSz cx="7102475" cy="9037638"/>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196" autoAdjust="0"/>
  </p:normalViewPr>
  <p:slideViewPr>
    <p:cSldViewPr snapToGrid="0">
      <p:cViewPr varScale="1">
        <p:scale>
          <a:sx n="81" d="100"/>
          <a:sy n="81" d="100"/>
        </p:scale>
        <p:origin x="72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5345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3092" y="0"/>
            <a:ext cx="3077739" cy="453451"/>
          </a:xfrm>
          <a:prstGeom prst="rect">
            <a:avLst/>
          </a:prstGeom>
        </p:spPr>
        <p:txBody>
          <a:bodyPr vert="horz" lIns="91440" tIns="45720" rIns="91440" bIns="45720" rtlCol="0"/>
          <a:lstStyle>
            <a:lvl1pPr algn="r">
              <a:defRPr sz="1200"/>
            </a:lvl1pPr>
          </a:lstStyle>
          <a:p>
            <a:fld id="{85A854B6-73EE-3647-B9F0-9FDDAF047BDA}" type="datetimeFigureOut">
              <a:rPr lang="en-US" smtClean="0"/>
              <a:t>4/22/2026</a:t>
            </a:fld>
            <a:endParaRPr lang="en-US"/>
          </a:p>
        </p:txBody>
      </p:sp>
      <p:sp>
        <p:nvSpPr>
          <p:cNvPr id="4" name="Slide Image Placeholder 3"/>
          <p:cNvSpPr>
            <a:spLocks noGrp="1" noRot="1" noChangeAspect="1"/>
          </p:cNvSpPr>
          <p:nvPr>
            <p:ph type="sldImg" idx="2"/>
          </p:nvPr>
        </p:nvSpPr>
        <p:spPr>
          <a:xfrm>
            <a:off x="839788" y="1130300"/>
            <a:ext cx="5422900" cy="30495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10248" y="4349363"/>
            <a:ext cx="5681980" cy="355857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584188"/>
            <a:ext cx="3077739" cy="4534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584188"/>
            <a:ext cx="3077739" cy="453450"/>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C548D4DF-21A2-8343-9008-710997EFE372}" type="datetime1">
              <a:rPr lang="en-IN" smtClean="0"/>
              <a:t>22-04-2026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C7A4DE8B-8D6B-8C46-B882-6A2CD2BC96F0}" type="datetime1">
              <a:rPr lang="en-IN" smtClean="0"/>
              <a:t>22-04-2026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87173D6-3CEE-8F48-B559-8A1AAA479881}" type="datetime1">
              <a:rPr lang="en-IN" smtClean="0"/>
              <a:t>22-04-2026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2B0238AD-5BCA-FB4D-BB92-A9506EB125DE}" type="datetime1">
              <a:rPr lang="en-IN" smtClean="0"/>
              <a:t>22-04-2026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9D2E14E3-1A4B-E147-9C43-AF22F573C146}" type="datetime1">
              <a:rPr lang="en-IN" smtClean="0"/>
              <a:t>22-04-2026</a:t>
            </a:fld>
            <a:endParaRPr lang="en-US"/>
          </a:p>
        </p:txBody>
      </p:sp>
      <p:sp>
        <p:nvSpPr>
          <p:cNvPr id="8" name="Footer Placeholder 7"/>
          <p:cNvSpPr>
            <a:spLocks noGrp="1"/>
          </p:cNvSpPr>
          <p:nvPr>
            <p:ph type="ftr" sz="quarter" idx="11"/>
          </p:nvPr>
        </p:nvSpPr>
        <p:spPr/>
        <p:txBody>
          <a:bodyPr/>
          <a:lstStyle/>
          <a:p>
            <a:r>
              <a:rPr lang="en-US"/>
              <a:t>REVIEW – 1 / 2 / 3    173030211    Department of CSE</a:t>
            </a:r>
          </a:p>
        </p:txBody>
      </p:sp>
      <p:sp>
        <p:nvSpPr>
          <p:cNvPr id="9" name="Slide Number Placeholder 8"/>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7BE5FDD8-A8EC-434C-9DC5-9C830FFCBBBE}" type="datetime1">
              <a:rPr lang="en-IN" smtClean="0"/>
              <a:t>22-04-2026</a:t>
            </a:fld>
            <a:endParaRPr lang="en-US"/>
          </a:p>
        </p:txBody>
      </p:sp>
      <p:sp>
        <p:nvSpPr>
          <p:cNvPr id="4" name="Footer Placeholder 3"/>
          <p:cNvSpPr>
            <a:spLocks noGrp="1"/>
          </p:cNvSpPr>
          <p:nvPr>
            <p:ph type="ftr" sz="quarter" idx="11"/>
          </p:nvPr>
        </p:nvSpPr>
        <p:spPr/>
        <p:txBody>
          <a:bodyPr/>
          <a:lstStyle/>
          <a:p>
            <a:r>
              <a:rPr lang="en-US"/>
              <a:t>REVIEW – 1 / 2 / 3    173030211    Department of CSE</a:t>
            </a:r>
          </a:p>
        </p:txBody>
      </p:sp>
      <p:sp>
        <p:nvSpPr>
          <p:cNvPr id="5" name="Slide Number Placeholder 4"/>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B649A9-55B9-CC4B-9F14-A826BCB3F81D}" type="datetime1">
              <a:rPr lang="en-IN" smtClean="0"/>
              <a:t>22-04-2026</a:t>
            </a:fld>
            <a:endParaRPr lang="en-US"/>
          </a:p>
        </p:txBody>
      </p:sp>
      <p:sp>
        <p:nvSpPr>
          <p:cNvPr id="3" name="Footer Placeholder 2"/>
          <p:cNvSpPr>
            <a:spLocks noGrp="1"/>
          </p:cNvSpPr>
          <p:nvPr>
            <p:ph type="ftr" sz="quarter" idx="11"/>
          </p:nvPr>
        </p:nvSpPr>
        <p:spPr/>
        <p:txBody>
          <a:bodyPr/>
          <a:lstStyle/>
          <a:p>
            <a:r>
              <a:rPr lang="en-US"/>
              <a:t>REVIEW – 1 / 2 / 3    173030211    Department of CSE</a:t>
            </a:r>
          </a:p>
        </p:txBody>
      </p:sp>
      <p:sp>
        <p:nvSpPr>
          <p:cNvPr id="4" name="Slide Number Placeholder 3"/>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9DDB05C-DA09-D54E-BE90-A914E23C1D37}" type="datetime1">
              <a:rPr lang="en-IN" smtClean="0"/>
              <a:t>22-04-2026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CDE2264A-0DD4-554E-9BAF-72F2B974B4C3}" type="datetime1">
              <a:rPr lang="en-IN" smtClean="0"/>
              <a:t>22-04-2026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9EDEFDC3-8E95-594C-90F9-D4BFD51367E6}" type="datetime1">
              <a:rPr lang="en-IN" smtClean="0"/>
              <a:t>22-04-2026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E3B2C79A-A4F9-4646-8C8F-7091881D2F89}" type="datetime1">
              <a:rPr lang="en-IN" smtClean="0"/>
              <a:t>22-04-2026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113F1655-6176-8843-98F6-F743980649D1}" type="datetime1">
              <a:rPr lang="en-IN" smtClean="0"/>
              <a:t>22-04-2026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ACC23D11-2585-D24D-93CA-1B3685649544}" type="datetime1">
              <a:rPr lang="en-IN" smtClean="0"/>
              <a:t>22-04-2026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34EACA4-A1C6-9F4F-978A-D3AE7141A61E}" type="datetime1">
              <a:rPr lang="en-IN" smtClean="0"/>
              <a:t>22-04-2026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DA2F10E6-0672-C24B-8BA7-69AD3847874C}" type="datetime1">
              <a:rPr lang="en-IN" smtClean="0"/>
              <a:t>22-04-2026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C3C70737-B6DD-A042-B94C-464B3C8698F2}" type="datetime1">
              <a:rPr lang="en-IN" smtClean="0"/>
              <a:t>22-04-2026</a:t>
            </a:fld>
            <a:endParaRPr lang="en-US"/>
          </a:p>
        </p:txBody>
      </p:sp>
      <p:sp>
        <p:nvSpPr>
          <p:cNvPr id="8" name="Footer Placeholder 7"/>
          <p:cNvSpPr>
            <a:spLocks noGrp="1"/>
          </p:cNvSpPr>
          <p:nvPr>
            <p:ph type="ftr" sz="quarter" idx="11"/>
          </p:nvPr>
        </p:nvSpPr>
        <p:spPr/>
        <p:txBody>
          <a:bodyPr/>
          <a:lstStyle/>
          <a:p>
            <a:r>
              <a:rPr lang="en-US"/>
              <a:t>REVIEW – 1 / 2 / 3    173030211    Department of CSE</a:t>
            </a:r>
          </a:p>
        </p:txBody>
      </p:sp>
      <p:sp>
        <p:nvSpPr>
          <p:cNvPr id="9" name="Slide Number Placeholder 8"/>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B1E405-5A0A-8F4C-9EC6-8C8112FD4D9F}" type="datetime1">
              <a:rPr lang="en-IN" smtClean="0"/>
              <a:t>22-04-2026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7A86FA-D70B-B047-9EE8-E3556A998703}" type="datetime1">
              <a:rPr lang="en-IN" smtClean="0"/>
              <a:t>22-04-2026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mdpi.com/2076-3417/13/9/5531" TargetMode="External"/><Relationship Id="rId7" Type="http://schemas.openxmlformats.org/officeDocument/2006/relationships/hyperlink" Target="https://dl.acm.org/doi/full/10.1145/3770177.3770292" TargetMode="Externa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www.viirj.org/vol13issue1/56.pdf" TargetMode="External"/><Relationship Id="rId5" Type="http://schemas.openxmlformats.org/officeDocument/2006/relationships/hyperlink" Target="https://link.springer.com/article/10.1007/s12525-016-0219-0" TargetMode="External"/><Relationship Id="rId4" Type="http://schemas.openxmlformats.org/officeDocument/2006/relationships/hyperlink" Target="https://iopscience.iop.org/article/10.1088/1742-6596/1302/3/032030/meta"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961390" y="300355"/>
            <a:ext cx="10515600" cy="1128395"/>
          </a:xfrm>
        </p:spPr>
        <p:txBody>
          <a:bodyPr>
            <a:noAutofit/>
          </a:bodyPr>
          <a:lstStyle/>
          <a:p>
            <a:pPr algn="ctr">
              <a:lnSpc>
                <a:spcPct val="100000"/>
              </a:lnSpc>
            </a:pPr>
            <a:r>
              <a:rPr lang="da-DK" sz="2400" b="1" dirty="0">
                <a:solidFill>
                  <a:schemeClr val="accent5">
                    <a:lumMod val="60000"/>
                    <a:lumOff val="40000"/>
                  </a:schemeClr>
                </a:solidFill>
                <a:latin typeface="Times New Roman" panose="02020603050405020304" pitchFamily="18" charset="0"/>
                <a:cs typeface="Times New Roman" panose="02020603050405020304" pitchFamily="18" charset="0"/>
              </a:rPr>
              <a:t>AI DRIVEN ENGINEERING</a:t>
            </a:r>
            <a:br>
              <a:rPr lang="da-DK"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REVIEW – 1</a:t>
            </a:r>
            <a:br>
              <a:rPr lang="en-US" sz="2400" b="1" dirty="0">
                <a:latin typeface="Times New Roman" panose="02020603050405020304" pitchFamily="18" charset="0"/>
                <a:cs typeface="Times New Roman" panose="02020603050405020304" pitchFamily="18" charset="0"/>
              </a:rPr>
            </a:br>
            <a:br>
              <a:rPr lang="en-US" sz="2400" b="1" dirty="0">
                <a:solidFill>
                  <a:srgbClr val="FF0000"/>
                </a:solidFill>
                <a:latin typeface="Times New Roman" panose="02020603050405020304" pitchFamily="18" charset="0"/>
                <a:cs typeface="Times New Roman" panose="02020603050405020304" pitchFamily="18" charset="0"/>
              </a:rPr>
            </a:br>
            <a:r>
              <a:rPr lang="en-US" sz="2400" b="1" dirty="0">
                <a:solidFill>
                  <a:srgbClr val="FF0000"/>
                </a:solidFill>
                <a:latin typeface="Times New Roman" panose="02020603050405020304" pitchFamily="18" charset="0"/>
                <a:cs typeface="Times New Roman" panose="02020603050405020304" pitchFamily="18" charset="0"/>
              </a:rPr>
              <a:t>Real-Time E-Commerce User Analytics and Recommendation System</a:t>
            </a:r>
            <a:endParaRPr lang="en-US" altLang="en-US" sz="24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961418" y="1737504"/>
            <a:ext cx="10515600" cy="359240"/>
          </a:xfrm>
        </p:spPr>
        <p:txBody>
          <a:bodyPr>
            <a:noAutofit/>
          </a:bodyPr>
          <a:lstStyle/>
          <a:p>
            <a:pPr marL="0" indent="0" algn="ctr">
              <a:buNone/>
            </a:pPr>
            <a:r>
              <a:rPr lang="en-IN" sz="2000" b="1" dirty="0"/>
              <a:t>Team No- 13</a:t>
            </a:r>
          </a:p>
          <a:p>
            <a:pPr marL="0" indent="0" algn="ctr">
              <a:buNone/>
            </a:pPr>
            <a:r>
              <a:rPr lang="en-IN" sz="2000" b="1" dirty="0"/>
              <a:t>Roll No		Name</a:t>
            </a:r>
          </a:p>
          <a:p>
            <a:pPr marL="0" indent="0" algn="ctr">
              <a:buNone/>
            </a:pPr>
            <a:r>
              <a:rPr lang="en-IN" sz="2000" b="1" dirty="0"/>
              <a:t>Krithik Reddy               2320030234</a:t>
            </a:r>
          </a:p>
          <a:p>
            <a:pPr marL="0" indent="0" algn="ctr">
              <a:buNone/>
            </a:pPr>
            <a:r>
              <a:rPr lang="en-IN" sz="2000" b="1" dirty="0"/>
              <a:t>Karthikeya               2320030501</a:t>
            </a:r>
          </a:p>
          <a:p>
            <a:pPr marL="0" indent="0" algn="ctr">
              <a:buNone/>
            </a:pPr>
            <a:r>
              <a:rPr lang="en-IN" sz="2000" b="1" dirty="0"/>
              <a:t>Sai Bharadwaj          2320030482</a:t>
            </a:r>
            <a:endParaRPr lang="en-US" sz="2000" b="1" dirty="0"/>
          </a:p>
          <a:p>
            <a:pPr marL="0" indent="0" algn="ctr">
              <a:buNone/>
            </a:pPr>
            <a:endParaRPr lang="en-US" sz="2000" b="1" dirty="0"/>
          </a:p>
          <a:p>
            <a:pPr marL="0" indent="0" algn="ctr">
              <a:buNone/>
            </a:pPr>
            <a:endParaRPr lang="en-US" sz="2000" b="1" dirty="0"/>
          </a:p>
          <a:p>
            <a:pPr marL="0" indent="0" algn="ctr">
              <a:buNone/>
            </a:pPr>
            <a:endParaRPr lang="en-US" sz="1400" b="1" dirty="0"/>
          </a:p>
        </p:txBody>
      </p:sp>
      <p:sp>
        <p:nvSpPr>
          <p:cNvPr id="6" name="Date Placeholder 5"/>
          <p:cNvSpPr>
            <a:spLocks noGrp="1"/>
          </p:cNvSpPr>
          <p:nvPr>
            <p:ph type="dt" sz="half" idx="10"/>
          </p:nvPr>
        </p:nvSpPr>
        <p:spPr/>
        <p:txBody>
          <a:bodyPr/>
          <a:lstStyle/>
          <a:p>
            <a:fld id="{437923A7-D8E7-1742-AE5C-E3C19725FB52}" type="datetime1">
              <a:rPr lang="en-IN" smtClean="0"/>
              <a:t>22-04-2026</a:t>
            </a:fld>
            <a:endParaRPr lang="en-US"/>
          </a:p>
        </p:txBody>
      </p:sp>
      <p:sp>
        <p:nvSpPr>
          <p:cNvPr id="9" name="Content Placeholder 3"/>
          <p:cNvSpPr txBox="1"/>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p:cNvSpPr txBox="1"/>
          <p:nvPr/>
        </p:nvSpPr>
        <p:spPr>
          <a:xfrm>
            <a:off x="1057275" y="3028210"/>
            <a:ext cx="10515600" cy="180629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US" sz="2400" dirty="0">
              <a:solidFill>
                <a:srgbClr val="00B050"/>
              </a:solidFill>
            </a:endParaRPr>
          </a:p>
          <a:p>
            <a:pPr marL="0" indent="0" algn="ctr">
              <a:buNone/>
            </a:pPr>
            <a:endParaRPr lang="en-US" sz="2400" dirty="0">
              <a:solidFill>
                <a:srgbClr val="00B050"/>
              </a:solidFill>
            </a:endParaRPr>
          </a:p>
          <a:p>
            <a:pPr marL="0" indent="0" algn="ctr">
              <a:buNone/>
            </a:pPr>
            <a:endParaRPr lang="en-US" sz="2400" dirty="0">
              <a:solidFill>
                <a:srgbClr val="00B050"/>
              </a:solidFill>
            </a:endParaRPr>
          </a:p>
          <a:p>
            <a:pPr marL="0" indent="0" algn="ctr">
              <a:buNone/>
            </a:pPr>
            <a:r>
              <a:rPr lang="en-US" sz="2400" dirty="0">
                <a:solidFill>
                  <a:srgbClr val="00B050"/>
                </a:solidFill>
              </a:rPr>
              <a:t>Department of Computer Science and Engineering</a:t>
            </a:r>
          </a:p>
          <a:p>
            <a:pPr marL="0" indent="0">
              <a:buFont typeface="Arial" panose="020B0604020202020204" pitchFamily="34" charset="0"/>
              <a:buNone/>
            </a:pPr>
            <a:endParaRPr lang="en-US" sz="2400" dirty="0">
              <a:solidFill>
                <a:srgbClr val="00B050"/>
              </a:solidFill>
            </a:endParaRPr>
          </a:p>
        </p:txBody>
      </p:sp>
      <p:sp>
        <p:nvSpPr>
          <p:cNvPr id="5" name="Slide Number Placeholder 4"/>
          <p:cNvSpPr>
            <a:spLocks noGrp="1"/>
          </p:cNvSpPr>
          <p:nvPr>
            <p:ph type="sldNum" sz="quarter" idx="12"/>
          </p:nvPr>
        </p:nvSpPr>
        <p:spPr/>
        <p:txBody>
          <a:bodyPr/>
          <a:lstStyle/>
          <a:p>
            <a:fld id="{B961B71F-4B40-8942-BB88-E0F5C0B46E10}" type="slidenum">
              <a:rPr lang="en-US" smtClean="0"/>
              <a:t>1</a:t>
            </a:fld>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31312" y="4834502"/>
            <a:ext cx="2175809" cy="1032698"/>
          </a:xfrm>
          <a:prstGeom prst="rect">
            <a:avLst/>
          </a:prstGeom>
        </p:spPr>
      </p:pic>
      <p:pic>
        <p:nvPicPr>
          <p:cNvPr id="8" name="Picture 7"/>
          <p:cNvPicPr>
            <a:picLocks noChangeAspect="1"/>
          </p:cNvPicPr>
          <p:nvPr/>
        </p:nvPicPr>
        <p:blipFill>
          <a:blip r:embed="rId3"/>
          <a:stretch>
            <a:fillRect/>
          </a:stretch>
        </p:blipFill>
        <p:spPr>
          <a:xfrm>
            <a:off x="1" y="-396"/>
            <a:ext cx="1458484" cy="69086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OUTLINE</a:t>
            </a:r>
          </a:p>
        </p:txBody>
      </p:sp>
      <p:sp>
        <p:nvSpPr>
          <p:cNvPr id="9" name="Content Placeholder 8"/>
          <p:cNvSpPr>
            <a:spLocks noGrp="1"/>
          </p:cNvSpPr>
          <p:nvPr>
            <p:ph idx="1"/>
          </p:nvPr>
        </p:nvSpPr>
        <p:spPr>
          <a:xfrm>
            <a:off x="1009409" y="1718552"/>
            <a:ext cx="10515600" cy="5002923"/>
          </a:xfrm>
        </p:spPr>
        <p:txBody>
          <a:bodyPr>
            <a:normAutofit/>
          </a:bodyPr>
          <a:lstStyle/>
          <a:p>
            <a:pPr marL="0" indent="0">
              <a:buNone/>
            </a:pPr>
            <a:r>
              <a:rPr lang="en-IN" dirty="0">
                <a:latin typeface="Times New Roman" panose="02020603050405020304" pitchFamily="18" charset="0"/>
                <a:cs typeface="Times New Roman" panose="02020603050405020304" pitchFamily="18" charset="0"/>
              </a:rPr>
              <a:t>• Abstract</a:t>
            </a:r>
          </a:p>
          <a:p>
            <a:pPr marL="0" indent="0">
              <a:buNone/>
            </a:pPr>
            <a:r>
              <a:rPr lang="en-IN" dirty="0">
                <a:latin typeface="Times New Roman" panose="02020603050405020304" pitchFamily="18" charset="0"/>
                <a:cs typeface="Times New Roman" panose="02020603050405020304" pitchFamily="18" charset="0"/>
              </a:rPr>
              <a:t>• Introduction</a:t>
            </a:r>
          </a:p>
          <a:p>
            <a:pPr marL="0" indent="0">
              <a:buNone/>
            </a:pPr>
            <a:r>
              <a:rPr lang="en-IN" sz="2800" dirty="0">
                <a:latin typeface="Times New Roman" panose="02020603050405020304" pitchFamily="18" charset="0"/>
                <a:cs typeface="Times New Roman" panose="02020603050405020304" pitchFamily="18" charset="0"/>
              </a:rPr>
              <a:t>• Objectives</a:t>
            </a:r>
          </a:p>
          <a:p>
            <a:pPr marL="0" indent="0">
              <a:buNone/>
            </a:pPr>
            <a:r>
              <a:rPr lang="en-IN" sz="2800" dirty="0">
                <a:latin typeface="Times New Roman" panose="02020603050405020304" pitchFamily="18" charset="0"/>
                <a:cs typeface="Times New Roman" panose="02020603050405020304" pitchFamily="18" charset="0"/>
              </a:rPr>
              <a:t>• Literature Survey</a:t>
            </a:r>
          </a:p>
          <a:p>
            <a:pPr marL="0" indent="0">
              <a:buNone/>
            </a:pPr>
            <a:r>
              <a:rPr lang="en-IN" sz="2800" dirty="0">
                <a:latin typeface="Times New Roman" panose="02020603050405020304" pitchFamily="18" charset="0"/>
                <a:cs typeface="Times New Roman" panose="02020603050405020304" pitchFamily="18" charset="0"/>
              </a:rPr>
              <a:t>• Implementation</a:t>
            </a:r>
          </a:p>
          <a:p>
            <a:pPr marL="0" indent="0">
              <a:buNone/>
            </a:pPr>
            <a:r>
              <a:rPr lang="en-IN" sz="2800" dirty="0">
                <a:latin typeface="Times New Roman" panose="02020603050405020304" pitchFamily="18" charset="0"/>
                <a:cs typeface="Times New Roman" panose="02020603050405020304" pitchFamily="18" charset="0"/>
              </a:rPr>
              <a:t>• Conclusion</a:t>
            </a:r>
          </a:p>
          <a:p>
            <a:pPr marL="0" indent="0">
              <a:buNone/>
            </a:pPr>
            <a:r>
              <a:rPr lang="en-IN" sz="2800" dirty="0">
                <a:latin typeface="Times New Roman" panose="02020603050405020304" pitchFamily="18" charset="0"/>
                <a:cs typeface="Times New Roman" panose="02020603050405020304" pitchFamily="18" charset="0"/>
              </a:rPr>
              <a:t>• References</a:t>
            </a:r>
          </a:p>
          <a:p>
            <a:pPr marL="0" indent="0">
              <a:buNone/>
            </a:pPr>
            <a:endParaRPr lang="en-I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fld id="{196CB346-A29B-614A-90B7-3F58220E4132}" type="datetime1">
              <a:rPr lang="en-IN" smtClean="0"/>
              <a:t>22-04-2026</a:t>
            </a:fld>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t>2</a:t>
            </a:fld>
            <a:endParaRPr lang="en-US"/>
          </a:p>
        </p:txBody>
      </p:sp>
      <p:pic>
        <p:nvPicPr>
          <p:cNvPr id="2" name="Picture 1"/>
          <p:cNvPicPr>
            <a:picLocks noChangeAspect="1"/>
          </p:cNvPicPr>
          <p:nvPr/>
        </p:nvPicPr>
        <p:blipFill>
          <a:blip r:embed="rId2"/>
          <a:stretch>
            <a:fillRect/>
          </a:stretch>
        </p:blipFill>
        <p:spPr>
          <a:xfrm>
            <a:off x="1" y="-396"/>
            <a:ext cx="1458484" cy="690861"/>
          </a:xfrm>
          <a:prstGeom prst="rect">
            <a:avLst/>
          </a:prstGeom>
        </p:spPr>
      </p:pic>
      <p:sp>
        <p:nvSpPr>
          <p:cNvPr id="3" name="Footer Placeholder 2"/>
          <p:cNvSpPr>
            <a:spLocks noGrp="1"/>
          </p:cNvSpPr>
          <p:nvPr>
            <p:ph type="ftr" sz="quarter" idx="11"/>
          </p:nvPr>
        </p:nvSpPr>
        <p:spPr/>
        <p:txBody>
          <a:bodyPr/>
          <a:lstStyle/>
          <a:p>
            <a:r>
              <a:rPr lang="en-US" dirty="0"/>
              <a:t>REVIEW – 1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FBCCE-9C1B-EECA-DF25-A9601E14B6AC}"/>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                           Abstract</a:t>
            </a:r>
            <a:endParaRPr lang="en-IN" dirty="0"/>
          </a:p>
        </p:txBody>
      </p:sp>
      <p:sp>
        <p:nvSpPr>
          <p:cNvPr id="3" name="Content Placeholder 2">
            <a:extLst>
              <a:ext uri="{FF2B5EF4-FFF2-40B4-BE49-F238E27FC236}">
                <a16:creationId xmlns:a16="http://schemas.microsoft.com/office/drawing/2014/main" id="{04228052-8D29-9586-CD94-15FE513AC789}"/>
              </a:ext>
            </a:extLst>
          </p:cNvPr>
          <p:cNvSpPr>
            <a:spLocks noGrp="1"/>
          </p:cNvSpPr>
          <p:nvPr>
            <p:ph idx="1"/>
          </p:nvPr>
        </p:nvSpPr>
        <p:spPr>
          <a:xfrm>
            <a:off x="838200" y="1469009"/>
            <a:ext cx="10515600" cy="4351338"/>
          </a:xfrm>
        </p:spPr>
        <p:txBody>
          <a:bodyPr>
            <a:noAutofit/>
          </a:bodyPr>
          <a:lstStyle/>
          <a:p>
            <a:pPr algn="just"/>
            <a:r>
              <a:rPr lang="en-US" sz="2400" dirty="0"/>
              <a:t>In modern e-commerce platforms, massive volumes of user activity data such as clicks, purchases, and browsing events are generated continuously. Traditional systems are unable to efficiently process this high-volume and high-velocity data in real time. This project presents a </a:t>
            </a:r>
            <a:r>
              <a:rPr lang="en-US" sz="2400" b="1" dirty="0"/>
              <a:t>Real-Time E-Commerce User Analytics Dashboard</a:t>
            </a:r>
            <a:r>
              <a:rPr lang="en-US" sz="2400" dirty="0"/>
              <a:t> using Big Data technologies such as Apache Kafka and Apache Spark. The system ingests streaming user events, processes them in a distributed environment, and integrates demographic data to generate meaningful insights. Processed metrics are stored in a time-series database and visualized through interactive dashboards. The proposed solution demonstrates scalable, fault-tolerant, and real-time data processing to support data-driven decision-making in e-commerce environments.</a:t>
            </a:r>
            <a:endParaRPr lang="en-US" sz="25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AB3A910A-B84F-EC84-5E58-2EA53403B471}"/>
              </a:ext>
            </a:extLst>
          </p:cNvPr>
          <p:cNvSpPr>
            <a:spLocks noGrp="1"/>
          </p:cNvSpPr>
          <p:nvPr>
            <p:ph type="dt" sz="half" idx="10"/>
          </p:nvPr>
        </p:nvSpPr>
        <p:spPr/>
        <p:txBody>
          <a:bodyPr/>
          <a:lstStyle/>
          <a:p>
            <a:fld id="{C7A4DE8B-8D6B-8C46-B882-6A2CD2BC96F0}" type="datetime1">
              <a:rPr lang="en-IN" smtClean="0"/>
              <a:t>22-04-2026</a:t>
            </a:fld>
            <a:endParaRPr lang="en-US"/>
          </a:p>
        </p:txBody>
      </p:sp>
      <p:sp>
        <p:nvSpPr>
          <p:cNvPr id="5" name="Footer Placeholder 4">
            <a:extLst>
              <a:ext uri="{FF2B5EF4-FFF2-40B4-BE49-F238E27FC236}">
                <a16:creationId xmlns:a16="http://schemas.microsoft.com/office/drawing/2014/main" id="{9C75B476-645A-19AA-89D8-BE0A057CF616}"/>
              </a:ext>
            </a:extLst>
          </p:cNvPr>
          <p:cNvSpPr>
            <a:spLocks noGrp="1"/>
          </p:cNvSpPr>
          <p:nvPr>
            <p:ph type="ftr" sz="quarter" idx="11"/>
          </p:nvPr>
        </p:nvSpPr>
        <p:spPr/>
        <p:txBody>
          <a:bodyPr/>
          <a:lstStyle/>
          <a:p>
            <a:r>
              <a:rPr lang="en-US" dirty="0"/>
              <a:t>REVIEW – 1    </a:t>
            </a:r>
          </a:p>
        </p:txBody>
      </p:sp>
      <p:sp>
        <p:nvSpPr>
          <p:cNvPr id="6" name="Slide Number Placeholder 5">
            <a:extLst>
              <a:ext uri="{FF2B5EF4-FFF2-40B4-BE49-F238E27FC236}">
                <a16:creationId xmlns:a16="http://schemas.microsoft.com/office/drawing/2014/main" id="{90CC7C66-A72D-0EC5-2F8E-2FB74887C9AF}"/>
              </a:ext>
            </a:extLst>
          </p:cNvPr>
          <p:cNvSpPr>
            <a:spLocks noGrp="1"/>
          </p:cNvSpPr>
          <p:nvPr>
            <p:ph type="sldNum" sz="quarter" idx="12"/>
          </p:nvPr>
        </p:nvSpPr>
        <p:spPr/>
        <p:txBody>
          <a:bodyPr/>
          <a:lstStyle/>
          <a:p>
            <a:fld id="{B961B71F-4B40-8942-BB88-E0F5C0B46E10}" type="slidenum">
              <a:rPr lang="en-US" smtClean="0"/>
              <a:t>3</a:t>
            </a:fld>
            <a:endParaRPr lang="en-US"/>
          </a:p>
        </p:txBody>
      </p:sp>
    </p:spTree>
    <p:extLst>
      <p:ext uri="{BB962C8B-B14F-4D97-AF65-F5344CB8AC3E}">
        <p14:creationId xmlns:p14="http://schemas.microsoft.com/office/powerpoint/2010/main" val="29234561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4522124-E786-BCBD-47AD-A1A7AA1DA56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12C2661-5AB9-3306-326F-7FD2F83DB2B0}"/>
              </a:ext>
            </a:extLst>
          </p:cNvPr>
          <p:cNvSpPr>
            <a:spLocks noGrp="1"/>
          </p:cNvSpPr>
          <p:nvPr>
            <p:ph type="title"/>
          </p:nvPr>
        </p:nvSpPr>
        <p:spPr>
          <a:xfrm>
            <a:off x="1180618" y="365125"/>
            <a:ext cx="10173182" cy="1128009"/>
          </a:xfrm>
        </p:spPr>
        <p:txBody>
          <a:bodyPr>
            <a:normAutofit/>
          </a:bodyPr>
          <a:lstStyle/>
          <a:p>
            <a:pPr algn="ctr"/>
            <a:r>
              <a:rPr lang="en-IN" b="1" dirty="0">
                <a:latin typeface="Times New Roman" panose="02020603050405020304" pitchFamily="18" charset="0"/>
                <a:cs typeface="Times New Roman" panose="02020603050405020304" pitchFamily="18" charset="0"/>
              </a:rPr>
              <a:t>Introduction</a:t>
            </a:r>
          </a:p>
        </p:txBody>
      </p:sp>
      <p:sp>
        <p:nvSpPr>
          <p:cNvPr id="9" name="Content Placeholder 8">
            <a:extLst>
              <a:ext uri="{FF2B5EF4-FFF2-40B4-BE49-F238E27FC236}">
                <a16:creationId xmlns:a16="http://schemas.microsoft.com/office/drawing/2014/main" id="{B7B926EC-3DBE-8D00-A4DE-40000C0B9746}"/>
              </a:ext>
            </a:extLst>
          </p:cNvPr>
          <p:cNvSpPr>
            <a:spLocks noGrp="1"/>
          </p:cNvSpPr>
          <p:nvPr>
            <p:ph idx="1"/>
          </p:nvPr>
        </p:nvSpPr>
        <p:spPr>
          <a:xfrm>
            <a:off x="838200" y="1712070"/>
            <a:ext cx="10515600" cy="5002923"/>
          </a:xfrm>
        </p:spPr>
        <p:txBody>
          <a:bodyPr>
            <a:normAutofit/>
          </a:bodyPr>
          <a:lstStyle/>
          <a:p>
            <a:r>
              <a:rPr lang="en-US" sz="2400" dirty="0"/>
              <a:t>In today’s digital world, e-commerce platforms like Amazon and Flipkart generate massive amounts of user activity data every second. Users continuously click products, browse categories, add items to carts, and complete purchases. Managing and analyzing this large-scale, high-speed data has become a major challenge. Traditional systems are not capable of processing such high-volume and high-velocity data in real time, which limits businesses from gaining immediate insights into customer behavior and campaign performance.</a:t>
            </a:r>
          </a:p>
          <a:p>
            <a:r>
              <a:rPr lang="en-US" sz="2400" dirty="0"/>
              <a:t>This project proposes a </a:t>
            </a:r>
            <a:r>
              <a:rPr lang="en-US" sz="2400" b="1" dirty="0"/>
              <a:t>Real-Time E-Commerce User Analytics Dashboard</a:t>
            </a:r>
            <a:r>
              <a:rPr lang="en-US" sz="2400" dirty="0"/>
              <a:t> using Big Data technologies like Apache Kafka and Apache Spark. The system processes streaming data in a distributed environment and provides live insights through dashboards, enabling faster and data-driven business decisions.</a:t>
            </a:r>
          </a:p>
          <a:p>
            <a:pPr algn="just"/>
            <a:endParaRPr lang="en-US" sz="25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7B8C7DBE-8B58-804A-6C39-91193A7ECF4F}"/>
              </a:ext>
            </a:extLst>
          </p:cNvPr>
          <p:cNvSpPr>
            <a:spLocks noGrp="1"/>
          </p:cNvSpPr>
          <p:nvPr>
            <p:ph type="dt" sz="half" idx="10"/>
          </p:nvPr>
        </p:nvSpPr>
        <p:spPr/>
        <p:txBody>
          <a:bodyPr/>
          <a:lstStyle/>
          <a:p>
            <a:fld id="{196CB346-A29B-614A-90B7-3F58220E4132}" type="datetime1">
              <a:rPr lang="en-IN" smtClean="0"/>
              <a:t>22-04-2026</a:t>
            </a:fld>
            <a:endParaRPr lang="en-US"/>
          </a:p>
        </p:txBody>
      </p:sp>
      <p:sp>
        <p:nvSpPr>
          <p:cNvPr id="7" name="Slide Number Placeholder 6">
            <a:extLst>
              <a:ext uri="{FF2B5EF4-FFF2-40B4-BE49-F238E27FC236}">
                <a16:creationId xmlns:a16="http://schemas.microsoft.com/office/drawing/2014/main" id="{7B53D3A6-F1ED-0DAD-DE43-F3A755A78A23}"/>
              </a:ext>
            </a:extLst>
          </p:cNvPr>
          <p:cNvSpPr>
            <a:spLocks noGrp="1"/>
          </p:cNvSpPr>
          <p:nvPr>
            <p:ph type="sldNum" sz="quarter" idx="12"/>
          </p:nvPr>
        </p:nvSpPr>
        <p:spPr/>
        <p:txBody>
          <a:bodyPr/>
          <a:lstStyle/>
          <a:p>
            <a:fld id="{B961B71F-4B40-8942-BB88-E0F5C0B46E10}" type="slidenum">
              <a:rPr lang="en-US" smtClean="0"/>
              <a:t>4</a:t>
            </a:fld>
            <a:endParaRPr lang="en-US"/>
          </a:p>
        </p:txBody>
      </p:sp>
      <p:pic>
        <p:nvPicPr>
          <p:cNvPr id="2" name="Picture 1">
            <a:extLst>
              <a:ext uri="{FF2B5EF4-FFF2-40B4-BE49-F238E27FC236}">
                <a16:creationId xmlns:a16="http://schemas.microsoft.com/office/drawing/2014/main" id="{ABEFA699-0799-F3B0-1E5B-DEAFB30C59B0}"/>
              </a:ext>
            </a:extLst>
          </p:cNvPr>
          <p:cNvPicPr>
            <a:picLocks noChangeAspect="1"/>
          </p:cNvPicPr>
          <p:nvPr/>
        </p:nvPicPr>
        <p:blipFill>
          <a:blip r:embed="rId2"/>
          <a:stretch>
            <a:fillRect/>
          </a:stretch>
        </p:blipFill>
        <p:spPr>
          <a:xfrm>
            <a:off x="1" y="-396"/>
            <a:ext cx="1458484" cy="690861"/>
          </a:xfrm>
          <a:prstGeom prst="rect">
            <a:avLst/>
          </a:prstGeom>
        </p:spPr>
      </p:pic>
      <p:sp>
        <p:nvSpPr>
          <p:cNvPr id="4" name="Footer Placeholder 2">
            <a:extLst>
              <a:ext uri="{FF2B5EF4-FFF2-40B4-BE49-F238E27FC236}">
                <a16:creationId xmlns:a16="http://schemas.microsoft.com/office/drawing/2014/main" id="{6246225C-C486-FED1-DA4D-888BE9F6A86C}"/>
              </a:ext>
            </a:extLst>
          </p:cNvPr>
          <p:cNvSpPr>
            <a:spLocks noGrp="1"/>
          </p:cNvSpPr>
          <p:nvPr>
            <p:ph type="ftr" sz="quarter" idx="11"/>
          </p:nvPr>
        </p:nvSpPr>
        <p:spPr>
          <a:xfrm>
            <a:off x="4038600" y="6356350"/>
            <a:ext cx="4114800" cy="365125"/>
          </a:xfrm>
        </p:spPr>
        <p:txBody>
          <a:bodyPr/>
          <a:lstStyle/>
          <a:p>
            <a:r>
              <a:rPr lang="en-US" dirty="0"/>
              <a:t>REVIEW – 1 </a:t>
            </a:r>
          </a:p>
        </p:txBody>
      </p:sp>
    </p:spTree>
    <p:extLst>
      <p:ext uri="{BB962C8B-B14F-4D97-AF65-F5344CB8AC3E}">
        <p14:creationId xmlns:p14="http://schemas.microsoft.com/office/powerpoint/2010/main" val="20115990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DF4ED40-408F-6A27-E4F0-6FCB8E7B6BE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C946B85-3126-D2FB-6BBE-D431774EDF2B}"/>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Objectives</a:t>
            </a:r>
            <a:r>
              <a:rPr lang="en-IN" dirty="0"/>
              <a:t> </a:t>
            </a:r>
          </a:p>
        </p:txBody>
      </p:sp>
      <p:sp>
        <p:nvSpPr>
          <p:cNvPr id="5" name="Date Placeholder 4">
            <a:extLst>
              <a:ext uri="{FF2B5EF4-FFF2-40B4-BE49-F238E27FC236}">
                <a16:creationId xmlns:a16="http://schemas.microsoft.com/office/drawing/2014/main" id="{47AB615F-134B-83C4-E306-B5062B74B49D}"/>
              </a:ext>
            </a:extLst>
          </p:cNvPr>
          <p:cNvSpPr>
            <a:spLocks noGrp="1"/>
          </p:cNvSpPr>
          <p:nvPr>
            <p:ph type="dt" sz="half" idx="10"/>
          </p:nvPr>
        </p:nvSpPr>
        <p:spPr/>
        <p:txBody>
          <a:bodyPr/>
          <a:lstStyle/>
          <a:p>
            <a:fld id="{196CB346-A29B-614A-90B7-3F58220E4132}" type="datetime1">
              <a:rPr lang="en-IN" smtClean="0"/>
              <a:t>22-04-2026</a:t>
            </a:fld>
            <a:endParaRPr lang="en-US"/>
          </a:p>
        </p:txBody>
      </p:sp>
      <p:sp>
        <p:nvSpPr>
          <p:cNvPr id="7" name="Slide Number Placeholder 6">
            <a:extLst>
              <a:ext uri="{FF2B5EF4-FFF2-40B4-BE49-F238E27FC236}">
                <a16:creationId xmlns:a16="http://schemas.microsoft.com/office/drawing/2014/main" id="{56B58078-A2DB-3337-E1DB-4073478F184D}"/>
              </a:ext>
            </a:extLst>
          </p:cNvPr>
          <p:cNvSpPr>
            <a:spLocks noGrp="1"/>
          </p:cNvSpPr>
          <p:nvPr>
            <p:ph type="sldNum" sz="quarter" idx="12"/>
          </p:nvPr>
        </p:nvSpPr>
        <p:spPr/>
        <p:txBody>
          <a:bodyPr/>
          <a:lstStyle/>
          <a:p>
            <a:fld id="{B961B71F-4B40-8942-BB88-E0F5C0B46E10}" type="slidenum">
              <a:rPr lang="en-US" smtClean="0"/>
              <a:t>5</a:t>
            </a:fld>
            <a:endParaRPr lang="en-US"/>
          </a:p>
        </p:txBody>
      </p:sp>
      <p:pic>
        <p:nvPicPr>
          <p:cNvPr id="2" name="Picture 1">
            <a:extLst>
              <a:ext uri="{FF2B5EF4-FFF2-40B4-BE49-F238E27FC236}">
                <a16:creationId xmlns:a16="http://schemas.microsoft.com/office/drawing/2014/main" id="{3635B6A2-90DB-9DF8-4F42-DFC3BA3D4CDC}"/>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EB56FACB-3BE6-7710-5AF6-30246594A4B1}"/>
              </a:ext>
            </a:extLst>
          </p:cNvPr>
          <p:cNvSpPr>
            <a:spLocks noGrp="1"/>
          </p:cNvSpPr>
          <p:nvPr>
            <p:ph type="ftr" sz="quarter" idx="11"/>
          </p:nvPr>
        </p:nvSpPr>
        <p:spPr>
          <a:xfrm>
            <a:off x="4038600" y="6356350"/>
            <a:ext cx="4114800" cy="365125"/>
          </a:xfrm>
        </p:spPr>
        <p:txBody>
          <a:bodyPr/>
          <a:lstStyle/>
          <a:p>
            <a:r>
              <a:rPr lang="en-US" dirty="0"/>
              <a:t>REVIEW – 1  </a:t>
            </a:r>
          </a:p>
        </p:txBody>
      </p:sp>
      <p:sp>
        <p:nvSpPr>
          <p:cNvPr id="3" name="Rectangle 1">
            <a:extLst>
              <a:ext uri="{FF2B5EF4-FFF2-40B4-BE49-F238E27FC236}">
                <a16:creationId xmlns:a16="http://schemas.microsoft.com/office/drawing/2014/main" id="{755A056B-3733-D5B7-ACD2-B35B5268AF03}"/>
              </a:ext>
            </a:extLst>
          </p:cNvPr>
          <p:cNvSpPr>
            <a:spLocks noGrp="1" noChangeArrowheads="1"/>
          </p:cNvSpPr>
          <p:nvPr>
            <p:ph idx="1"/>
          </p:nvPr>
        </p:nvSpPr>
        <p:spPr bwMode="auto">
          <a:xfrm>
            <a:off x="168897" y="1651844"/>
            <a:ext cx="10242099" cy="390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To design a real-time data pipeline for e-commerce user activity.</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To collect and process high-volume streaming data using Apache Kafka.</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To implement distributed data processing using Apache Spark.</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To integrate streaming data with structured demographic data.</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To </a:t>
            </a:r>
            <a:r>
              <a:rPr lang="en-US" altLang="en-US" sz="2400" dirty="0">
                <a:latin typeface="Arial" panose="020B0604020202020204" pitchFamily="34" charset="0"/>
              </a:rPr>
              <a:t>use ML Algorithms for </a:t>
            </a:r>
            <a:r>
              <a:rPr kumimoji="0" lang="en-US" altLang="en-US" sz="2400" b="0" i="0" u="none" strike="noStrike" cap="none" normalizeH="0" baseline="0" dirty="0">
                <a:ln>
                  <a:noFill/>
                </a:ln>
                <a:solidFill>
                  <a:schemeClr val="tx1"/>
                </a:solidFill>
                <a:effectLst/>
                <a:latin typeface="Arial" panose="020B0604020202020204" pitchFamily="34" charset="0"/>
              </a:rPr>
              <a:t>analytics.</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To build an interactive dashboard for real-time visualization.</a:t>
            </a:r>
          </a:p>
          <a:p>
            <a:pPr marL="0" marR="0" lvl="0" indent="0" algn="l" defTabSz="914400" rtl="0" eaLnBrk="0" fontAlgn="base" latinLnBrk="0" hangingPunct="0">
              <a:lnSpc>
                <a:spcPct val="15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084045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B54B581-3E21-4B4E-2A35-F67D3096E59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48C83F0-76BD-4B96-85D5-C1FAD7356279}"/>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Proposed Method</a:t>
            </a:r>
          </a:p>
        </p:txBody>
      </p:sp>
      <p:sp>
        <p:nvSpPr>
          <p:cNvPr id="9" name="Content Placeholder 8">
            <a:extLst>
              <a:ext uri="{FF2B5EF4-FFF2-40B4-BE49-F238E27FC236}">
                <a16:creationId xmlns:a16="http://schemas.microsoft.com/office/drawing/2014/main" id="{552B6941-B56F-78EF-6572-0086C4B21BD4}"/>
              </a:ext>
            </a:extLst>
          </p:cNvPr>
          <p:cNvSpPr>
            <a:spLocks noGrp="1"/>
          </p:cNvSpPr>
          <p:nvPr>
            <p:ph idx="1"/>
          </p:nvPr>
        </p:nvSpPr>
        <p:spPr>
          <a:xfrm>
            <a:off x="838200" y="1250731"/>
            <a:ext cx="10515600" cy="5366885"/>
          </a:xfrm>
        </p:spPr>
        <p:txBody>
          <a:bodyPr>
            <a:normAutofit fontScale="62500" lnSpcReduction="20000"/>
          </a:bodyPr>
          <a:lstStyle/>
          <a:p>
            <a:r>
              <a:rPr lang="en-US" sz="3400" b="1" dirty="0"/>
              <a:t>Data Ingestion:</a:t>
            </a:r>
            <a:br>
              <a:rPr lang="en-US" sz="3400" dirty="0"/>
            </a:br>
            <a:r>
              <a:rPr lang="en-US" sz="3400" dirty="0"/>
              <a:t>User events such as clicks and purchases are streamed in real time using </a:t>
            </a:r>
            <a:r>
              <a:rPr lang="en-US" sz="3400" b="1" dirty="0"/>
              <a:t>Apache Kafka</a:t>
            </a:r>
            <a:r>
              <a:rPr lang="en-US" sz="3400" dirty="0"/>
              <a:t>.</a:t>
            </a:r>
          </a:p>
          <a:p>
            <a:r>
              <a:rPr lang="en-US" sz="3400" b="1" dirty="0"/>
              <a:t>Data Integration:</a:t>
            </a:r>
            <a:br>
              <a:rPr lang="en-US" sz="3400" dirty="0"/>
            </a:br>
            <a:r>
              <a:rPr lang="en-US" sz="3400" dirty="0"/>
              <a:t>Streaming event data is combined with user demographic data stored in </a:t>
            </a:r>
            <a:r>
              <a:rPr lang="en-US" sz="3400" b="1" dirty="0"/>
              <a:t>MySQL</a:t>
            </a:r>
            <a:r>
              <a:rPr lang="en-US" sz="3400" dirty="0"/>
              <a:t>.</a:t>
            </a:r>
          </a:p>
          <a:p>
            <a:endParaRPr lang="en-US" sz="3400" dirty="0"/>
          </a:p>
          <a:p>
            <a:r>
              <a:rPr lang="en-US" sz="3400" b="1" dirty="0"/>
              <a:t>Machine Learning Models</a:t>
            </a:r>
            <a:endParaRPr lang="en-US" sz="3400" dirty="0"/>
          </a:p>
          <a:p>
            <a:pPr marL="0" indent="0">
              <a:buNone/>
            </a:pPr>
            <a:r>
              <a:rPr lang="en-US" sz="3400" dirty="0"/>
              <a:t>     Logistic Regression → Predict purchase probability</a:t>
            </a:r>
          </a:p>
          <a:p>
            <a:pPr marL="0" indent="0">
              <a:buNone/>
            </a:pPr>
            <a:r>
              <a:rPr lang="en-US" sz="3400" dirty="0"/>
              <a:t>     K-Means → Customer segmentation</a:t>
            </a:r>
          </a:p>
          <a:p>
            <a:pPr marL="0" indent="0">
              <a:buNone/>
            </a:pPr>
            <a:r>
              <a:rPr lang="en-US" sz="3400" dirty="0"/>
              <a:t>     Anomaly Detection → Detect unusual activity</a:t>
            </a:r>
          </a:p>
          <a:p>
            <a:endParaRPr lang="en-US" sz="3400" dirty="0"/>
          </a:p>
          <a:p>
            <a:r>
              <a:rPr lang="en-US" sz="3400" b="1" dirty="0"/>
              <a:t>Storage:</a:t>
            </a:r>
            <a:br>
              <a:rPr lang="en-US" sz="3400" dirty="0"/>
            </a:br>
            <a:r>
              <a:rPr lang="en-US" sz="3400" dirty="0"/>
              <a:t>Processed metrics are stored in </a:t>
            </a:r>
            <a:r>
              <a:rPr lang="en-US" sz="3400" b="1" dirty="0" err="1"/>
              <a:t>InfluxDB</a:t>
            </a:r>
            <a:r>
              <a:rPr lang="en-US" sz="3400" dirty="0"/>
              <a:t>, a time-series database optimized for real-time analytics.</a:t>
            </a:r>
          </a:p>
          <a:p>
            <a:r>
              <a:rPr lang="en-US" sz="3400" b="1" dirty="0"/>
              <a:t>Visualization:</a:t>
            </a:r>
            <a:br>
              <a:rPr lang="en-US" sz="3400" dirty="0"/>
            </a:br>
            <a:r>
              <a:rPr lang="en-US" sz="3400" dirty="0"/>
              <a:t>Data is displayed through </a:t>
            </a:r>
            <a:r>
              <a:rPr lang="en-US" sz="3400" b="1" dirty="0"/>
              <a:t>Grafana dashboards</a:t>
            </a:r>
            <a:r>
              <a:rPr lang="en-US" sz="3400" dirty="0"/>
              <a:t> to provide live insights into sales, campaign performance, and user behavior.</a:t>
            </a:r>
          </a:p>
          <a:p>
            <a:pPr eaLnBrk="0" fontAlgn="base" hangingPunct="0">
              <a:lnSpc>
                <a:spcPct val="100000"/>
              </a:lnSpc>
              <a:spcBef>
                <a:spcPct val="0"/>
              </a:spcBef>
              <a:spcAft>
                <a:spcPct val="0"/>
              </a:spcAft>
            </a:pPr>
            <a:endParaRPr lang="en-US" altLang="en-US" sz="3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E9E4C048-DC99-8545-9D85-18D18CC66C3F}"/>
              </a:ext>
            </a:extLst>
          </p:cNvPr>
          <p:cNvSpPr>
            <a:spLocks noGrp="1"/>
          </p:cNvSpPr>
          <p:nvPr>
            <p:ph type="dt" sz="half" idx="10"/>
          </p:nvPr>
        </p:nvSpPr>
        <p:spPr/>
        <p:txBody>
          <a:bodyPr/>
          <a:lstStyle/>
          <a:p>
            <a:fld id="{196CB346-A29B-614A-90B7-3F58220E4132}" type="datetime1">
              <a:rPr lang="en-IN" smtClean="0"/>
              <a:t>22-04-2026</a:t>
            </a:fld>
            <a:endParaRPr lang="en-US" dirty="0"/>
          </a:p>
        </p:txBody>
      </p:sp>
      <p:sp>
        <p:nvSpPr>
          <p:cNvPr id="7" name="Slide Number Placeholder 6">
            <a:extLst>
              <a:ext uri="{FF2B5EF4-FFF2-40B4-BE49-F238E27FC236}">
                <a16:creationId xmlns:a16="http://schemas.microsoft.com/office/drawing/2014/main" id="{A85A645B-E9B2-A17C-A19D-59B4792D4E40}"/>
              </a:ext>
            </a:extLst>
          </p:cNvPr>
          <p:cNvSpPr>
            <a:spLocks noGrp="1"/>
          </p:cNvSpPr>
          <p:nvPr>
            <p:ph type="sldNum" sz="quarter" idx="12"/>
          </p:nvPr>
        </p:nvSpPr>
        <p:spPr/>
        <p:txBody>
          <a:bodyPr/>
          <a:lstStyle/>
          <a:p>
            <a:fld id="{B961B71F-4B40-8942-BB88-E0F5C0B46E10}" type="slidenum">
              <a:rPr lang="en-US" smtClean="0"/>
              <a:t>6</a:t>
            </a:fld>
            <a:endParaRPr lang="en-US"/>
          </a:p>
        </p:txBody>
      </p:sp>
      <p:pic>
        <p:nvPicPr>
          <p:cNvPr id="2" name="Picture 1">
            <a:extLst>
              <a:ext uri="{FF2B5EF4-FFF2-40B4-BE49-F238E27FC236}">
                <a16:creationId xmlns:a16="http://schemas.microsoft.com/office/drawing/2014/main" id="{FF7B1205-708D-AB89-EA58-78AFC93D26FF}"/>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2201DB43-9F00-00F7-5CD5-CA9274B825F2}"/>
              </a:ext>
            </a:extLst>
          </p:cNvPr>
          <p:cNvSpPr>
            <a:spLocks noGrp="1"/>
          </p:cNvSpPr>
          <p:nvPr>
            <p:ph type="ftr" sz="quarter" idx="11"/>
          </p:nvPr>
        </p:nvSpPr>
        <p:spPr>
          <a:xfrm>
            <a:off x="4038600" y="6356350"/>
            <a:ext cx="4114800" cy="365125"/>
          </a:xfrm>
        </p:spPr>
        <p:txBody>
          <a:bodyPr/>
          <a:lstStyle/>
          <a:p>
            <a:r>
              <a:rPr lang="en-US" dirty="0"/>
              <a:t>REVIEW – 1  </a:t>
            </a:r>
          </a:p>
        </p:txBody>
      </p:sp>
    </p:spTree>
    <p:extLst>
      <p:ext uri="{BB962C8B-B14F-4D97-AF65-F5344CB8AC3E}">
        <p14:creationId xmlns:p14="http://schemas.microsoft.com/office/powerpoint/2010/main" val="27623403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3011089-EEC9-4DC3-B156-F53ED5F1EF49}"/>
              </a:ext>
            </a:extLst>
          </p:cNvPr>
          <p:cNvSpPr>
            <a:spLocks noGrp="1"/>
          </p:cNvSpPr>
          <p:nvPr>
            <p:ph type="dt" sz="half" idx="10"/>
          </p:nvPr>
        </p:nvSpPr>
        <p:spPr/>
        <p:txBody>
          <a:bodyPr/>
          <a:lstStyle/>
          <a:p>
            <a:fld id="{C7A4DE8B-8D6B-8C46-B882-6A2CD2BC96F0}" type="datetime1">
              <a:rPr lang="en-IN" smtClean="0"/>
              <a:t>22-04-2026</a:t>
            </a:fld>
            <a:endParaRPr lang="en-US"/>
          </a:p>
        </p:txBody>
      </p:sp>
      <p:sp>
        <p:nvSpPr>
          <p:cNvPr id="5" name="Footer Placeholder 4">
            <a:extLst>
              <a:ext uri="{FF2B5EF4-FFF2-40B4-BE49-F238E27FC236}">
                <a16:creationId xmlns:a16="http://schemas.microsoft.com/office/drawing/2014/main" id="{FBB6DDE4-1316-601E-7C5D-C2334E25A05F}"/>
              </a:ext>
            </a:extLst>
          </p:cNvPr>
          <p:cNvSpPr>
            <a:spLocks noGrp="1"/>
          </p:cNvSpPr>
          <p:nvPr>
            <p:ph type="ftr" sz="quarter" idx="11"/>
          </p:nvPr>
        </p:nvSpPr>
        <p:spPr/>
        <p:txBody>
          <a:bodyPr/>
          <a:lstStyle/>
          <a:p>
            <a:r>
              <a:rPr lang="en-US" dirty="0"/>
              <a:t>REVIEW – 1</a:t>
            </a:r>
          </a:p>
        </p:txBody>
      </p:sp>
      <p:sp>
        <p:nvSpPr>
          <p:cNvPr id="6" name="Slide Number Placeholder 5">
            <a:extLst>
              <a:ext uri="{FF2B5EF4-FFF2-40B4-BE49-F238E27FC236}">
                <a16:creationId xmlns:a16="http://schemas.microsoft.com/office/drawing/2014/main" id="{F13325E7-4C25-A439-BADF-F85935BA5063}"/>
              </a:ext>
            </a:extLst>
          </p:cNvPr>
          <p:cNvSpPr>
            <a:spLocks noGrp="1"/>
          </p:cNvSpPr>
          <p:nvPr>
            <p:ph type="sldNum" sz="quarter" idx="12"/>
          </p:nvPr>
        </p:nvSpPr>
        <p:spPr/>
        <p:txBody>
          <a:bodyPr/>
          <a:lstStyle/>
          <a:p>
            <a:fld id="{B961B71F-4B40-8942-BB88-E0F5C0B46E10}" type="slidenum">
              <a:rPr lang="en-US" smtClean="0"/>
              <a:t>7</a:t>
            </a:fld>
            <a:endParaRPr lang="en-US"/>
          </a:p>
        </p:txBody>
      </p:sp>
      <p:sp>
        <p:nvSpPr>
          <p:cNvPr id="7" name="Title 1">
            <a:extLst>
              <a:ext uri="{FF2B5EF4-FFF2-40B4-BE49-F238E27FC236}">
                <a16:creationId xmlns:a16="http://schemas.microsoft.com/office/drawing/2014/main" id="{0744C41A-86B6-FC37-BF0D-236E88CDA316}"/>
              </a:ext>
            </a:extLst>
          </p:cNvPr>
          <p:cNvSpPr>
            <a:spLocks noGrp="1"/>
          </p:cNvSpPr>
          <p:nvPr/>
        </p:nvSpPr>
        <p:spPr>
          <a:xfrm>
            <a:off x="1981200" y="437492"/>
            <a:ext cx="8684172" cy="1312479"/>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sz="4100" dirty="0">
                <a:latin typeface="Times New Roman" panose="02020603050405020304" pitchFamily="18" charset="0"/>
                <a:cs typeface="Times New Roman" panose="02020603050405020304" pitchFamily="18" charset="0"/>
              </a:rPr>
              <a:t>System Architecture (Block Diagram)</a:t>
            </a:r>
          </a:p>
        </p:txBody>
      </p:sp>
      <p:pic>
        <p:nvPicPr>
          <p:cNvPr id="16" name="Picture 15">
            <a:extLst>
              <a:ext uri="{FF2B5EF4-FFF2-40B4-BE49-F238E27FC236}">
                <a16:creationId xmlns:a16="http://schemas.microsoft.com/office/drawing/2014/main" id="{2ABB0CE6-5B5A-BDB4-A515-51B3580B82D3}"/>
              </a:ext>
            </a:extLst>
          </p:cNvPr>
          <p:cNvPicPr>
            <a:picLocks noChangeAspect="1"/>
          </p:cNvPicPr>
          <p:nvPr/>
        </p:nvPicPr>
        <p:blipFill>
          <a:blip r:embed="rId2"/>
          <a:stretch>
            <a:fillRect/>
          </a:stretch>
        </p:blipFill>
        <p:spPr>
          <a:xfrm>
            <a:off x="2535809" y="1593130"/>
            <a:ext cx="6818329" cy="4545553"/>
          </a:xfrm>
          <a:prstGeom prst="rect">
            <a:avLst/>
          </a:prstGeom>
        </p:spPr>
      </p:pic>
    </p:spTree>
    <p:extLst>
      <p:ext uri="{BB962C8B-B14F-4D97-AF65-F5344CB8AC3E}">
        <p14:creationId xmlns:p14="http://schemas.microsoft.com/office/powerpoint/2010/main" val="40267122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2205BF8-E8B4-C589-5006-CAF232FB4E7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15234DD-6ED1-D656-1294-FA28B66E4582}"/>
              </a:ext>
            </a:extLst>
          </p:cNvPr>
          <p:cNvSpPr>
            <a:spLocks noGrp="1"/>
          </p:cNvSpPr>
          <p:nvPr>
            <p:ph type="title"/>
          </p:nvPr>
        </p:nvSpPr>
        <p:spPr>
          <a:xfrm>
            <a:off x="1094251" y="-315534"/>
            <a:ext cx="10173182" cy="1128009"/>
          </a:xfrm>
        </p:spPr>
        <p:txBody>
          <a:bodyPr/>
          <a:lstStyle/>
          <a:p>
            <a:pPr algn="ctr"/>
            <a:r>
              <a:rPr lang="en-IN" b="1" dirty="0">
                <a:latin typeface="Times New Roman" panose="02020603050405020304" pitchFamily="18" charset="0"/>
                <a:cs typeface="Times New Roman" panose="02020603050405020304" pitchFamily="18" charset="0"/>
              </a:rPr>
              <a:t>Literature Survey</a:t>
            </a:r>
          </a:p>
        </p:txBody>
      </p:sp>
      <p:sp>
        <p:nvSpPr>
          <p:cNvPr id="5" name="Date Placeholder 4">
            <a:extLst>
              <a:ext uri="{FF2B5EF4-FFF2-40B4-BE49-F238E27FC236}">
                <a16:creationId xmlns:a16="http://schemas.microsoft.com/office/drawing/2014/main" id="{B10130AF-494E-777F-45AE-C50709DBF558}"/>
              </a:ext>
            </a:extLst>
          </p:cNvPr>
          <p:cNvSpPr>
            <a:spLocks noGrp="1"/>
          </p:cNvSpPr>
          <p:nvPr>
            <p:ph type="dt" sz="half" idx="10"/>
          </p:nvPr>
        </p:nvSpPr>
        <p:spPr/>
        <p:txBody>
          <a:bodyPr/>
          <a:lstStyle/>
          <a:p>
            <a:fld id="{196CB346-A29B-614A-90B7-3F58220E4132}" type="datetime1">
              <a:rPr lang="en-IN" smtClean="0"/>
              <a:t>22-04-2026</a:t>
            </a:fld>
            <a:endParaRPr lang="en-US" dirty="0"/>
          </a:p>
        </p:txBody>
      </p:sp>
      <p:sp>
        <p:nvSpPr>
          <p:cNvPr id="7" name="Slide Number Placeholder 6">
            <a:extLst>
              <a:ext uri="{FF2B5EF4-FFF2-40B4-BE49-F238E27FC236}">
                <a16:creationId xmlns:a16="http://schemas.microsoft.com/office/drawing/2014/main" id="{1E301E54-71CD-371A-5333-489712DC684B}"/>
              </a:ext>
            </a:extLst>
          </p:cNvPr>
          <p:cNvSpPr>
            <a:spLocks noGrp="1"/>
          </p:cNvSpPr>
          <p:nvPr>
            <p:ph type="sldNum" sz="quarter" idx="12"/>
          </p:nvPr>
        </p:nvSpPr>
        <p:spPr/>
        <p:txBody>
          <a:bodyPr/>
          <a:lstStyle/>
          <a:p>
            <a:fld id="{B961B71F-4B40-8942-BB88-E0F5C0B46E10}" type="slidenum">
              <a:rPr lang="en-US" smtClean="0"/>
              <a:t>8</a:t>
            </a:fld>
            <a:endParaRPr lang="en-US"/>
          </a:p>
        </p:txBody>
      </p:sp>
      <p:pic>
        <p:nvPicPr>
          <p:cNvPr id="2" name="Picture 1">
            <a:extLst>
              <a:ext uri="{FF2B5EF4-FFF2-40B4-BE49-F238E27FC236}">
                <a16:creationId xmlns:a16="http://schemas.microsoft.com/office/drawing/2014/main" id="{46E32AD9-12A7-7C40-05A0-8D056D1960B2}"/>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AEA843F7-8A62-A540-2018-E141BD34A93C}"/>
              </a:ext>
            </a:extLst>
          </p:cNvPr>
          <p:cNvSpPr>
            <a:spLocks noGrp="1"/>
          </p:cNvSpPr>
          <p:nvPr>
            <p:ph type="ftr" sz="quarter" idx="11"/>
          </p:nvPr>
        </p:nvSpPr>
        <p:spPr>
          <a:xfrm>
            <a:off x="4038600" y="6356350"/>
            <a:ext cx="4114800" cy="365125"/>
          </a:xfrm>
        </p:spPr>
        <p:txBody>
          <a:bodyPr/>
          <a:lstStyle/>
          <a:p>
            <a:r>
              <a:rPr lang="en-US" dirty="0"/>
              <a:t>REVIEW – 1   </a:t>
            </a:r>
          </a:p>
        </p:txBody>
      </p:sp>
      <p:graphicFrame>
        <p:nvGraphicFramePr>
          <p:cNvPr id="3" name="Table 2">
            <a:extLst>
              <a:ext uri="{FF2B5EF4-FFF2-40B4-BE49-F238E27FC236}">
                <a16:creationId xmlns:a16="http://schemas.microsoft.com/office/drawing/2014/main" id="{FC3A074C-637B-BCBD-F76E-942D03495FB7}"/>
              </a:ext>
            </a:extLst>
          </p:cNvPr>
          <p:cNvGraphicFramePr>
            <a:graphicFrameLocks noGrp="1"/>
          </p:cNvGraphicFramePr>
          <p:nvPr>
            <p:extLst>
              <p:ext uri="{D42A27DB-BD31-4B8C-83A1-F6EECF244321}">
                <p14:modId xmlns:p14="http://schemas.microsoft.com/office/powerpoint/2010/main" val="3427718577"/>
              </p:ext>
            </p:extLst>
          </p:nvPr>
        </p:nvGraphicFramePr>
        <p:xfrm>
          <a:off x="924567" y="760462"/>
          <a:ext cx="10868364" cy="5337076"/>
        </p:xfrm>
        <a:graphic>
          <a:graphicData uri="http://schemas.openxmlformats.org/drawingml/2006/table">
            <a:tbl>
              <a:tblPr firstRow="1" bandRow="1">
                <a:tableStyleId>{5C22544A-7EE6-4342-B048-85BDC9FD1C3A}</a:tableStyleId>
              </a:tblPr>
              <a:tblGrid>
                <a:gridCol w="2478822">
                  <a:extLst>
                    <a:ext uri="{9D8B030D-6E8A-4147-A177-3AD203B41FA5}">
                      <a16:colId xmlns:a16="http://schemas.microsoft.com/office/drawing/2014/main" val="1350949089"/>
                    </a:ext>
                  </a:extLst>
                </a:gridCol>
                <a:gridCol w="2796514">
                  <a:extLst>
                    <a:ext uri="{9D8B030D-6E8A-4147-A177-3AD203B41FA5}">
                      <a16:colId xmlns:a16="http://schemas.microsoft.com/office/drawing/2014/main" val="3582922934"/>
                    </a:ext>
                  </a:extLst>
                </a:gridCol>
                <a:gridCol w="2796514">
                  <a:extLst>
                    <a:ext uri="{9D8B030D-6E8A-4147-A177-3AD203B41FA5}">
                      <a16:colId xmlns:a16="http://schemas.microsoft.com/office/drawing/2014/main" val="239154684"/>
                    </a:ext>
                  </a:extLst>
                </a:gridCol>
                <a:gridCol w="2796514">
                  <a:extLst>
                    <a:ext uri="{9D8B030D-6E8A-4147-A177-3AD203B41FA5}">
                      <a16:colId xmlns:a16="http://schemas.microsoft.com/office/drawing/2014/main" val="181447199"/>
                    </a:ext>
                  </a:extLst>
                </a:gridCol>
              </a:tblGrid>
              <a:tr h="498127">
                <a:tc>
                  <a:txBody>
                    <a:bodyPr/>
                    <a:lstStyle/>
                    <a:p>
                      <a:pPr>
                        <a:buNone/>
                      </a:pPr>
                      <a:r>
                        <a:rPr lang="en-IN" b="1" dirty="0"/>
                        <a:t>Paper Link</a:t>
                      </a:r>
                      <a:endParaRPr lang="en-IN" dirty="0"/>
                    </a:p>
                  </a:txBody>
                  <a:tcPr anchor="ctr"/>
                </a:tc>
                <a:tc>
                  <a:txBody>
                    <a:bodyPr/>
                    <a:lstStyle/>
                    <a:p>
                      <a:r>
                        <a:rPr lang="en-IN" dirty="0"/>
                        <a:t>Author Name</a:t>
                      </a:r>
                    </a:p>
                  </a:txBody>
                  <a:tcPr/>
                </a:tc>
                <a:tc>
                  <a:txBody>
                    <a:bodyPr/>
                    <a:lstStyle/>
                    <a:p>
                      <a:r>
                        <a:rPr lang="en-IN" dirty="0"/>
                        <a:t>Journal/Conference</a:t>
                      </a:r>
                    </a:p>
                  </a:txBody>
                  <a:tcPr/>
                </a:tc>
                <a:tc>
                  <a:txBody>
                    <a:bodyPr/>
                    <a:lstStyle/>
                    <a:p>
                      <a:r>
                        <a:rPr lang="en-IN" dirty="0"/>
                        <a:t>Drawbacks / Future Scope</a:t>
                      </a:r>
                    </a:p>
                  </a:txBody>
                  <a:tcPr/>
                </a:tc>
                <a:extLst>
                  <a:ext uri="{0D108BD9-81ED-4DB2-BD59-A6C34878D82A}">
                    <a16:rowId xmlns:a16="http://schemas.microsoft.com/office/drawing/2014/main" val="4135119911"/>
                  </a:ext>
                </a:extLst>
              </a:tr>
              <a:tr h="1067415">
                <a:tc>
                  <a:txBody>
                    <a:bodyPr/>
                    <a:lstStyle/>
                    <a:p>
                      <a:r>
                        <a:rPr lang="en-IN" sz="1100" dirty="0">
                          <a:latin typeface="Times New Roman" panose="02020603050405020304" pitchFamily="18" charset="0"/>
                          <a:cs typeface="Times New Roman" panose="02020603050405020304" pitchFamily="18" charset="0"/>
                          <a:hlinkClick r:id="rId3"/>
                        </a:rPr>
                        <a:t>LINK</a:t>
                      </a:r>
                      <a:endParaRPr lang="en-IN" sz="1100" dirty="0">
                        <a:latin typeface="Times New Roman" panose="02020603050405020304" pitchFamily="18" charset="0"/>
                        <a:cs typeface="Times New Roman" panose="02020603050405020304" pitchFamily="18" charset="0"/>
                      </a:endParaRPr>
                    </a:p>
                  </a:txBody>
                  <a:tcPr/>
                </a:tc>
                <a:tc>
                  <a:txBody>
                    <a:bodyPr/>
                    <a:lstStyle/>
                    <a:p>
                      <a:pPr algn="ctr"/>
                      <a:r>
                        <a:rPr lang="en-IN" sz="1100" b="0" i="0" kern="1200" dirty="0">
                          <a:solidFill>
                            <a:schemeClr val="dk1"/>
                          </a:solidFill>
                          <a:effectLst/>
                          <a:latin typeface="+mn-lt"/>
                          <a:ea typeface="+mn-ea"/>
                          <a:cs typeface="+mn-cs"/>
                        </a:rPr>
                        <a:t>Sabina-Cristiana Necula</a:t>
                      </a:r>
                      <a:endParaRPr lang="en-IN" sz="1100" b="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i="0" kern="1200" dirty="0">
                          <a:solidFill>
                            <a:schemeClr val="dk1"/>
                          </a:solidFill>
                          <a:effectLst/>
                          <a:latin typeface="+mn-lt"/>
                          <a:ea typeface="+mn-ea"/>
                          <a:cs typeface="+mn-cs"/>
                        </a:rPr>
                        <a:t>AI-Driven Recommendations:</a:t>
                      </a:r>
                      <a:endParaRPr lang="en-IN" sz="1100" b="1" dirty="0"/>
                    </a:p>
                  </a:txBody>
                  <a:tcPr/>
                </a:tc>
                <a:tc>
                  <a:txBody>
                    <a:bodyPr/>
                    <a:lstStyle/>
                    <a:p>
                      <a:r>
                        <a:rPr lang="en-US" sz="1100" dirty="0"/>
                        <a:t>Some proposed models require high memory and processing power, making them expensive for practical implementation.</a:t>
                      </a:r>
                      <a:endParaRPr lang="en-IN"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40009426"/>
                  </a:ext>
                </a:extLst>
              </a:tr>
              <a:tr h="901373">
                <a:tc>
                  <a:txBody>
                    <a:bodyPr/>
                    <a:lstStyle/>
                    <a:p>
                      <a:r>
                        <a:rPr lang="en-IN" sz="1200" dirty="0">
                          <a:latin typeface="Times New Roman" panose="02020603050405020304" pitchFamily="18" charset="0"/>
                          <a:cs typeface="Times New Roman" panose="02020603050405020304" pitchFamily="18" charset="0"/>
                          <a:hlinkClick r:id="rId4"/>
                        </a:rPr>
                        <a:t>LINK</a:t>
                      </a:r>
                      <a:endParaRPr lang="en-IN" sz="1200" dirty="0">
                        <a:latin typeface="Times New Roman" panose="02020603050405020304" pitchFamily="18" charset="0"/>
                        <a:cs typeface="Times New Roman" panose="02020603050405020304" pitchFamily="18" charset="0"/>
                      </a:endParaRPr>
                    </a:p>
                  </a:txBody>
                  <a:tcPr/>
                </a:tc>
                <a:tc>
                  <a:txBody>
                    <a:bodyPr/>
                    <a:lstStyle/>
                    <a:p>
                      <a:pPr algn="ctr"/>
                      <a:r>
                        <a:rPr lang="en-IN" sz="1200" b="0" i="0" kern="1200" dirty="0">
                          <a:solidFill>
                            <a:schemeClr val="dk1"/>
                          </a:solidFill>
                          <a:effectLst/>
                          <a:latin typeface="+mn-lt"/>
                          <a:ea typeface="+mn-ea"/>
                          <a:cs typeface="+mn-cs"/>
                        </a:rPr>
                        <a:t>Xia Song, Shiqi Yang, </a:t>
                      </a:r>
                      <a:r>
                        <a:rPr lang="en-IN" sz="1200" b="0" i="0" kern="1200" dirty="0" err="1">
                          <a:solidFill>
                            <a:schemeClr val="dk1"/>
                          </a:solidFill>
                          <a:effectLst/>
                          <a:latin typeface="+mn-lt"/>
                          <a:ea typeface="+mn-ea"/>
                          <a:cs typeface="+mn-cs"/>
                        </a:rPr>
                        <a:t>Ziqing</a:t>
                      </a:r>
                      <a:r>
                        <a:rPr lang="en-IN" sz="1200" b="0" i="0" kern="1200" dirty="0">
                          <a:solidFill>
                            <a:schemeClr val="dk1"/>
                          </a:solidFill>
                          <a:effectLst/>
                          <a:latin typeface="+mn-lt"/>
                          <a:ea typeface="+mn-ea"/>
                          <a:cs typeface="+mn-cs"/>
                        </a:rPr>
                        <a:t> Huang and Tao Huang</a:t>
                      </a:r>
                      <a:endParaRPr lang="en-IN"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dk1"/>
                          </a:solidFill>
                          <a:effectLst/>
                          <a:latin typeface="+mn-lt"/>
                          <a:ea typeface="+mn-ea"/>
                          <a:cs typeface="+mn-cs"/>
                        </a:rPr>
                        <a:t>The Application of Artificial Intelligence in Electronic Commerce</a:t>
                      </a:r>
                    </a:p>
                    <a:p>
                      <a:pPr algn="ctr"/>
                      <a:endParaRPr lang="en-IN" sz="1200" b="1" dirty="0"/>
                    </a:p>
                  </a:txBody>
                  <a:tcPr/>
                </a:tc>
                <a:tc>
                  <a:txBody>
                    <a:bodyPr/>
                    <a:lstStyle/>
                    <a:p>
                      <a:r>
                        <a:rPr lang="en-US" sz="1200" dirty="0">
                          <a:latin typeface="Times New Roman" panose="02020603050405020304" pitchFamily="18" charset="0"/>
                          <a:cs typeface="Times New Roman" panose="02020603050405020304" pitchFamily="18" charset="0"/>
                        </a:rPr>
                        <a:t>Older survey; needs updates with deep learning and big data frameworks</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58949813"/>
                  </a:ext>
                </a:extLst>
              </a:tr>
              <a:tr h="901373">
                <a:tc>
                  <a:txBody>
                    <a:bodyPr/>
                    <a:lstStyle/>
                    <a:p>
                      <a:r>
                        <a:rPr lang="en-IN" sz="1200" dirty="0">
                          <a:latin typeface="Times New Roman" panose="02020603050405020304" pitchFamily="18" charset="0"/>
                          <a:cs typeface="Times New Roman" panose="02020603050405020304" pitchFamily="18" charset="0"/>
                          <a:hlinkClick r:id="rId5"/>
                        </a:rPr>
                        <a:t>LINK</a:t>
                      </a:r>
                      <a:endParaRPr lang="en-IN" sz="1200" dirty="0">
                        <a:latin typeface="Times New Roman" panose="02020603050405020304" pitchFamily="18" charset="0"/>
                        <a:cs typeface="Times New Roman" panose="02020603050405020304" pitchFamily="18" charset="0"/>
                      </a:endParaRPr>
                    </a:p>
                  </a:txBody>
                  <a:tcPr/>
                </a:tc>
                <a:tc>
                  <a:txBody>
                    <a:bodyPr/>
                    <a:lstStyle/>
                    <a:p>
                      <a:pPr algn="ctr">
                        <a:buNone/>
                      </a:pPr>
                      <a:r>
                        <a:rPr lang="en-IN" sz="1200" dirty="0"/>
                        <a:t>Samuel Fosso Wamba</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kern="1200" dirty="0">
                          <a:solidFill>
                            <a:schemeClr val="dk1"/>
                          </a:solidFill>
                          <a:effectLst/>
                          <a:latin typeface="+mn-lt"/>
                          <a:ea typeface="+mn-ea"/>
                          <a:cs typeface="+mn-cs"/>
                        </a:rPr>
                        <a:t>Big data analytics in E-commerce</a:t>
                      </a:r>
                    </a:p>
                    <a:p>
                      <a:pPr algn="ctr"/>
                      <a:endParaRPr lang="en-IN" sz="1200" b="1" dirty="0"/>
                    </a:p>
                  </a:txBody>
                  <a:tcPr/>
                </a:tc>
                <a:tc>
                  <a:txBody>
                    <a:bodyPr/>
                    <a:lstStyle/>
                    <a:p>
                      <a:r>
                        <a:rPr lang="en-US" sz="1200" dirty="0"/>
                        <a:t>Many studies assume clean data and do not handle missing, noisy, or inconsistent real-world data.</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24760005"/>
                  </a:ext>
                </a:extLst>
              </a:tr>
              <a:tr h="1067415">
                <a:tc>
                  <a:txBody>
                    <a:bodyPr/>
                    <a:lstStyle/>
                    <a:p>
                      <a:r>
                        <a:rPr lang="en-IN" sz="1200" dirty="0">
                          <a:latin typeface="Times New Roman" panose="02020603050405020304" pitchFamily="18" charset="0"/>
                          <a:cs typeface="Times New Roman" panose="02020603050405020304" pitchFamily="18" charset="0"/>
                          <a:hlinkClick r:id="rId6"/>
                        </a:rPr>
                        <a:t>LINK</a:t>
                      </a:r>
                      <a:endParaRPr lang="en-IN" sz="1200" dirty="0">
                        <a:latin typeface="Times New Roman" panose="02020603050405020304" pitchFamily="18" charset="0"/>
                        <a:cs typeface="Times New Roman" panose="02020603050405020304" pitchFamily="18" charset="0"/>
                      </a:endParaRPr>
                    </a:p>
                  </a:txBody>
                  <a:tcPr/>
                </a:tc>
                <a:tc>
                  <a:txBody>
                    <a:bodyPr/>
                    <a:lstStyle/>
                    <a:p>
                      <a:pPr algn="ctr"/>
                      <a:r>
                        <a:rPr lang="sv-SE" sz="1200" dirty="0"/>
                        <a:t>A.A. Nimbalkar and A.T. Berad</a:t>
                      </a:r>
                      <a:endParaRPr lang="en-IN" sz="1200" dirty="0"/>
                    </a:p>
                  </a:txBody>
                  <a:tcPr/>
                </a:tc>
                <a:tc>
                  <a:txBody>
                    <a:bodyPr/>
                    <a:lstStyle/>
                    <a:p>
                      <a:pPr algn="ctr">
                        <a:buNone/>
                      </a:pPr>
                      <a:r>
                        <a:rPr lang="en-US" sz="1200" b="1" dirty="0"/>
                        <a:t>THE INCREASING IMPORTANCE OF AI APPLICATIONS IN E-COMMERCE</a:t>
                      </a:r>
                      <a:endParaRPr lang="en-IN" sz="1200" b="1" dirty="0"/>
                    </a:p>
                  </a:txBody>
                  <a:tcPr anchor="ctr"/>
                </a:tc>
                <a:tc>
                  <a:txBody>
                    <a:bodyPr/>
                    <a:lstStyle/>
                    <a:p>
                      <a:r>
                        <a:rPr lang="en-US" sz="1200" dirty="0"/>
                        <a:t>Research is often tested on a single dataset, which may not represent real-world data variety.</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54610591"/>
                  </a:ext>
                </a:extLst>
              </a:tr>
              <a:tr h="901373">
                <a:tc>
                  <a:txBody>
                    <a:bodyPr/>
                    <a:lstStyle/>
                    <a:p>
                      <a:r>
                        <a:rPr lang="en-IN" sz="1200" dirty="0">
                          <a:hlinkClick r:id="rId7"/>
                        </a:rPr>
                        <a:t>LINK</a:t>
                      </a:r>
                      <a:endParaRPr lang="en-IN" sz="1200" dirty="0"/>
                    </a:p>
                  </a:txBody>
                  <a:tcPr/>
                </a:tc>
                <a:tc>
                  <a:txBody>
                    <a:bodyPr/>
                    <a:lstStyle/>
                    <a:p>
                      <a:pPr algn="ctr"/>
                      <a:r>
                        <a:rPr lang="en-IN" sz="1200" dirty="0"/>
                        <a:t>Xue Song</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i="0" kern="1200" dirty="0">
                          <a:solidFill>
                            <a:schemeClr val="dk1"/>
                          </a:solidFill>
                          <a:effectLst/>
                          <a:latin typeface="+mn-lt"/>
                          <a:ea typeface="+mn-ea"/>
                          <a:cs typeface="+mn-cs"/>
                        </a:rPr>
                        <a:t>User-Centric Internal Tools in E-commerce:</a:t>
                      </a:r>
                    </a:p>
                    <a:p>
                      <a:pPr algn="ctr"/>
                      <a:endParaRPr lang="en-IN" sz="1200" b="1" dirty="0"/>
                    </a:p>
                  </a:txBody>
                  <a:tcPr/>
                </a:tc>
                <a:tc>
                  <a:txBody>
                    <a:bodyPr/>
                    <a:lstStyle/>
                    <a:p>
                      <a:r>
                        <a:rPr lang="en-US" sz="1200" dirty="0">
                          <a:latin typeface="Times New Roman" panose="02020603050405020304" pitchFamily="18" charset="0"/>
                          <a:cs typeface="Times New Roman" panose="02020603050405020304" pitchFamily="18" charset="0"/>
                        </a:rPr>
                        <a:t>Uses R for sentiment analysis; doesn’t cover big data frameworks like Spark/Hadoop.</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6448433"/>
                  </a:ext>
                </a:extLst>
              </a:tr>
            </a:tbl>
          </a:graphicData>
        </a:graphic>
      </p:graphicFrame>
    </p:spTree>
    <p:extLst>
      <p:ext uri="{BB962C8B-B14F-4D97-AF65-F5344CB8AC3E}">
        <p14:creationId xmlns:p14="http://schemas.microsoft.com/office/powerpoint/2010/main" val="3610881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2C7D688-871F-CFE8-3EFB-2BBFC942F71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465BC6B-ACEF-FABD-97D9-3F740AFEA650}"/>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Implementation</a:t>
            </a:r>
          </a:p>
        </p:txBody>
      </p:sp>
      <p:sp>
        <p:nvSpPr>
          <p:cNvPr id="9" name="Content Placeholder 8">
            <a:extLst>
              <a:ext uri="{FF2B5EF4-FFF2-40B4-BE49-F238E27FC236}">
                <a16:creationId xmlns:a16="http://schemas.microsoft.com/office/drawing/2014/main" id="{9A148468-70F0-62F4-D77B-031E25FC61F1}"/>
              </a:ext>
            </a:extLst>
          </p:cNvPr>
          <p:cNvSpPr>
            <a:spLocks noGrp="1"/>
          </p:cNvSpPr>
          <p:nvPr>
            <p:ph idx="1"/>
          </p:nvPr>
        </p:nvSpPr>
        <p:spPr>
          <a:xfrm>
            <a:off x="838200" y="1250731"/>
            <a:ext cx="10515600" cy="5002923"/>
          </a:xfrm>
        </p:spPr>
        <p:txBody>
          <a:bodyPr>
            <a:normAutofit/>
          </a:bodyPr>
          <a:lstStyle/>
          <a:p>
            <a:r>
              <a:rPr lang="en-IN" sz="3000" dirty="0">
                <a:latin typeface="Times New Roman" panose="02020603050405020304" pitchFamily="18" charset="0"/>
                <a:cs typeface="Times New Roman" panose="02020603050405020304" pitchFamily="18" charset="0"/>
              </a:rPr>
              <a:t>Tools Used:</a:t>
            </a:r>
          </a:p>
          <a:p>
            <a:pPr marL="0" indent="0">
              <a:buNone/>
            </a:pPr>
            <a:endParaRPr lang="en-IN" sz="3000" dirty="0">
              <a:latin typeface="Times New Roman" panose="02020603050405020304" pitchFamily="18" charset="0"/>
              <a:cs typeface="Times New Roman" panose="02020603050405020304" pitchFamily="18" charset="0"/>
            </a:endParaRPr>
          </a:p>
          <a:p>
            <a:pPr marL="457200" lvl="1" indent="0">
              <a:buNone/>
            </a:pPr>
            <a:endParaRPr lang="en-IN" sz="3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FB766324-58AB-8C24-3FA5-CA8446FB06E8}"/>
              </a:ext>
            </a:extLst>
          </p:cNvPr>
          <p:cNvSpPr>
            <a:spLocks noGrp="1"/>
          </p:cNvSpPr>
          <p:nvPr>
            <p:ph type="dt" sz="half" idx="10"/>
          </p:nvPr>
        </p:nvSpPr>
        <p:spPr/>
        <p:txBody>
          <a:bodyPr/>
          <a:lstStyle/>
          <a:p>
            <a:fld id="{196CB346-A29B-614A-90B7-3F58220E4132}" type="datetime1">
              <a:rPr lang="en-IN" smtClean="0"/>
              <a:t>22-04-2026</a:t>
            </a:fld>
            <a:endParaRPr lang="en-US" dirty="0"/>
          </a:p>
        </p:txBody>
      </p:sp>
      <p:sp>
        <p:nvSpPr>
          <p:cNvPr id="7" name="Slide Number Placeholder 6">
            <a:extLst>
              <a:ext uri="{FF2B5EF4-FFF2-40B4-BE49-F238E27FC236}">
                <a16:creationId xmlns:a16="http://schemas.microsoft.com/office/drawing/2014/main" id="{1BB3A364-68CB-FD95-0846-F866F5F20636}"/>
              </a:ext>
            </a:extLst>
          </p:cNvPr>
          <p:cNvSpPr>
            <a:spLocks noGrp="1"/>
          </p:cNvSpPr>
          <p:nvPr>
            <p:ph type="sldNum" sz="quarter" idx="12"/>
          </p:nvPr>
        </p:nvSpPr>
        <p:spPr/>
        <p:txBody>
          <a:bodyPr/>
          <a:lstStyle/>
          <a:p>
            <a:fld id="{B961B71F-4B40-8942-BB88-E0F5C0B46E10}" type="slidenum">
              <a:rPr lang="en-US" smtClean="0"/>
              <a:t>9</a:t>
            </a:fld>
            <a:endParaRPr lang="en-US"/>
          </a:p>
        </p:txBody>
      </p:sp>
      <p:pic>
        <p:nvPicPr>
          <p:cNvPr id="2" name="Picture 1">
            <a:extLst>
              <a:ext uri="{FF2B5EF4-FFF2-40B4-BE49-F238E27FC236}">
                <a16:creationId xmlns:a16="http://schemas.microsoft.com/office/drawing/2014/main" id="{16BA0F1E-63D2-5C99-0AEF-AE9D06F3E65E}"/>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3B7B457D-38E8-2C64-57F5-E01DF1762DD2}"/>
              </a:ext>
            </a:extLst>
          </p:cNvPr>
          <p:cNvSpPr>
            <a:spLocks noGrp="1"/>
          </p:cNvSpPr>
          <p:nvPr>
            <p:ph type="ftr" sz="quarter" idx="11"/>
          </p:nvPr>
        </p:nvSpPr>
        <p:spPr>
          <a:xfrm>
            <a:off x="4038600" y="6356350"/>
            <a:ext cx="4114800" cy="365125"/>
          </a:xfrm>
        </p:spPr>
        <p:txBody>
          <a:bodyPr/>
          <a:lstStyle/>
          <a:p>
            <a:r>
              <a:rPr lang="en-US" dirty="0"/>
              <a:t>REVIEW – 1   </a:t>
            </a:r>
          </a:p>
        </p:txBody>
      </p:sp>
      <p:sp>
        <p:nvSpPr>
          <p:cNvPr id="11" name="Rectangle 4">
            <a:extLst>
              <a:ext uri="{FF2B5EF4-FFF2-40B4-BE49-F238E27FC236}">
                <a16:creationId xmlns:a16="http://schemas.microsoft.com/office/drawing/2014/main" id="{DFF4D203-5CE7-AF14-5660-7056E1639EC7}"/>
              </a:ext>
            </a:extLst>
          </p:cNvPr>
          <p:cNvSpPr>
            <a:spLocks noChangeArrowheads="1"/>
          </p:cNvSpPr>
          <p:nvPr/>
        </p:nvSpPr>
        <p:spPr bwMode="auto">
          <a:xfrm>
            <a:off x="838200" y="2053400"/>
            <a:ext cx="656336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Apache Spark Structured Streaming</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Spark </a:t>
            </a:r>
            <a:r>
              <a:rPr kumimoji="0" lang="en-US" altLang="en-US" sz="2400" b="1" i="0" u="none" strike="noStrike" cap="none" normalizeH="0" baseline="0" dirty="0" err="1">
                <a:ln>
                  <a:noFill/>
                </a:ln>
                <a:solidFill>
                  <a:schemeClr val="tx1"/>
                </a:solidFill>
                <a:effectLst/>
                <a:latin typeface="Arial" panose="020B0604020202020204" pitchFamily="34" charset="0"/>
              </a:rPr>
              <a:t>MLlib</a:t>
            </a:r>
            <a:r>
              <a:rPr kumimoji="0" lang="en-US" altLang="en-US" sz="2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MySQL</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err="1">
                <a:ln>
                  <a:noFill/>
                </a:ln>
                <a:solidFill>
                  <a:schemeClr val="tx1"/>
                </a:solidFill>
                <a:effectLst/>
                <a:latin typeface="Arial" panose="020B0604020202020204" pitchFamily="34" charset="0"/>
              </a:rPr>
              <a:t>InfluxDB</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Grafana</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Apache Kafka</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Docker Compose</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Avro (Data Format)</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500413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B93719B-A971-677D-DB3E-3F30ECAA34A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709CC97-A85F-7FE9-127B-D9A3D4338C74}"/>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Conclusion</a:t>
            </a:r>
          </a:p>
        </p:txBody>
      </p:sp>
      <p:sp>
        <p:nvSpPr>
          <p:cNvPr id="9" name="Content Placeholder 8">
            <a:extLst>
              <a:ext uri="{FF2B5EF4-FFF2-40B4-BE49-F238E27FC236}">
                <a16:creationId xmlns:a16="http://schemas.microsoft.com/office/drawing/2014/main" id="{0E914A49-19F6-51A2-7E86-293A5277485B}"/>
              </a:ext>
            </a:extLst>
          </p:cNvPr>
          <p:cNvSpPr>
            <a:spLocks noGrp="1"/>
          </p:cNvSpPr>
          <p:nvPr>
            <p:ph idx="1"/>
          </p:nvPr>
        </p:nvSpPr>
        <p:spPr>
          <a:xfrm>
            <a:off x="1009409" y="2081749"/>
            <a:ext cx="10515600" cy="5002923"/>
          </a:xfrm>
        </p:spPr>
        <p:txBody>
          <a:bodyPr>
            <a:normAutofit/>
          </a:bodyPr>
          <a:lstStyle/>
          <a:p>
            <a:r>
              <a:rPr lang="en-US" sz="3200" dirty="0"/>
              <a:t>In this project, we designed a </a:t>
            </a:r>
            <a:r>
              <a:rPr lang="en-US" sz="3200" b="1" dirty="0"/>
              <a:t>Real-Time E-Commerce User Analytics Dashboard</a:t>
            </a:r>
            <a:r>
              <a:rPr lang="en-US" sz="3200" dirty="0"/>
              <a:t> using Big Data technologies. The system collects high-volume streaming data using Apache Kafka and processes it in a distributed manner using Apache Spark. By integrating streaming and structured data, the platform provides real-time insights through interactive dashboards.</a:t>
            </a:r>
          </a:p>
          <a:p>
            <a:pPr marL="0" indent="0">
              <a:buNone/>
            </a:pPr>
            <a:endParaRPr lang="en-US" sz="3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68B060C3-9089-9B01-F1D8-C97A09A9736A}"/>
              </a:ext>
            </a:extLst>
          </p:cNvPr>
          <p:cNvSpPr>
            <a:spLocks noGrp="1"/>
          </p:cNvSpPr>
          <p:nvPr>
            <p:ph type="dt" sz="half" idx="10"/>
          </p:nvPr>
        </p:nvSpPr>
        <p:spPr/>
        <p:txBody>
          <a:bodyPr/>
          <a:lstStyle/>
          <a:p>
            <a:fld id="{196CB346-A29B-614A-90B7-3F58220E4132}" type="datetime1">
              <a:rPr lang="en-IN" smtClean="0"/>
              <a:t>22-04-2026</a:t>
            </a:fld>
            <a:endParaRPr lang="en-US" dirty="0"/>
          </a:p>
        </p:txBody>
      </p:sp>
      <p:sp>
        <p:nvSpPr>
          <p:cNvPr id="7" name="Slide Number Placeholder 6">
            <a:extLst>
              <a:ext uri="{FF2B5EF4-FFF2-40B4-BE49-F238E27FC236}">
                <a16:creationId xmlns:a16="http://schemas.microsoft.com/office/drawing/2014/main" id="{134082E4-0E3A-87DB-D567-ED1D0DBED5DA}"/>
              </a:ext>
            </a:extLst>
          </p:cNvPr>
          <p:cNvSpPr>
            <a:spLocks noGrp="1"/>
          </p:cNvSpPr>
          <p:nvPr>
            <p:ph type="sldNum" sz="quarter" idx="12"/>
          </p:nvPr>
        </p:nvSpPr>
        <p:spPr/>
        <p:txBody>
          <a:bodyPr/>
          <a:lstStyle/>
          <a:p>
            <a:fld id="{B961B71F-4B40-8942-BB88-E0F5C0B46E10}" type="slidenum">
              <a:rPr lang="en-US" smtClean="0"/>
              <a:t>10</a:t>
            </a:fld>
            <a:endParaRPr lang="en-US"/>
          </a:p>
        </p:txBody>
      </p:sp>
      <p:pic>
        <p:nvPicPr>
          <p:cNvPr id="2" name="Picture 1">
            <a:extLst>
              <a:ext uri="{FF2B5EF4-FFF2-40B4-BE49-F238E27FC236}">
                <a16:creationId xmlns:a16="http://schemas.microsoft.com/office/drawing/2014/main" id="{1564F053-0075-BD19-F8FF-9AAA1B64705D}"/>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187A4474-F3F0-CAB1-93F1-9BF4015FB49E}"/>
              </a:ext>
            </a:extLst>
          </p:cNvPr>
          <p:cNvSpPr>
            <a:spLocks noGrp="1"/>
          </p:cNvSpPr>
          <p:nvPr>
            <p:ph type="ftr" sz="quarter" idx="11"/>
          </p:nvPr>
        </p:nvSpPr>
        <p:spPr>
          <a:xfrm>
            <a:off x="4038600" y="6356350"/>
            <a:ext cx="4114800" cy="365125"/>
          </a:xfrm>
        </p:spPr>
        <p:txBody>
          <a:bodyPr/>
          <a:lstStyle/>
          <a:p>
            <a:r>
              <a:rPr lang="en-US" dirty="0"/>
              <a:t>REVIEW – 1</a:t>
            </a:r>
          </a:p>
        </p:txBody>
      </p:sp>
    </p:spTree>
    <p:extLst>
      <p:ext uri="{BB962C8B-B14F-4D97-AF65-F5344CB8AC3E}">
        <p14:creationId xmlns:p14="http://schemas.microsoft.com/office/powerpoint/2010/main" val="7164636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8D4C0B0-C70A-1972-492E-60B0E754146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E10373E-14B1-432C-6627-5102E701E540}"/>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References</a:t>
            </a:r>
          </a:p>
        </p:txBody>
      </p:sp>
      <p:sp>
        <p:nvSpPr>
          <p:cNvPr id="9" name="Content Placeholder 8">
            <a:extLst>
              <a:ext uri="{FF2B5EF4-FFF2-40B4-BE49-F238E27FC236}">
                <a16:creationId xmlns:a16="http://schemas.microsoft.com/office/drawing/2014/main" id="{820347CC-6603-A42B-AFAE-07AE7DD492A9}"/>
              </a:ext>
            </a:extLst>
          </p:cNvPr>
          <p:cNvSpPr>
            <a:spLocks noGrp="1"/>
          </p:cNvSpPr>
          <p:nvPr>
            <p:ph idx="1"/>
          </p:nvPr>
        </p:nvSpPr>
        <p:spPr>
          <a:xfrm>
            <a:off x="838200" y="1489952"/>
            <a:ext cx="10515600" cy="5002923"/>
          </a:xfrm>
        </p:spPr>
        <p:txBody>
          <a:bodyPr>
            <a:normAutofit/>
          </a:bodyPr>
          <a:lstStyle/>
          <a:p>
            <a:pPr marL="0" indent="0">
              <a:buNone/>
            </a:pPr>
            <a:r>
              <a:rPr lang="en-US" sz="3200" dirty="0" err="1"/>
              <a:t>Änäkkälä</a:t>
            </a:r>
            <a:r>
              <a:rPr lang="en-US" sz="3200" dirty="0"/>
              <a:t>, T. (2021). Exploring value in eCommerce artificial intelligence and recommendation systems.</a:t>
            </a:r>
          </a:p>
          <a:p>
            <a:pPr marL="0" indent="0">
              <a:buNone/>
            </a:pPr>
            <a:r>
              <a:rPr lang="en-US" sz="3200" dirty="0"/>
              <a:t> 2. Builtin.com. (2021). What is Artificial Intelligence? How Does AI Work? | Built In. Retrieved from https://builtin.com /artificial-intelligence</a:t>
            </a:r>
          </a:p>
          <a:p>
            <a:pPr marL="0" indent="0">
              <a:buNone/>
            </a:pPr>
            <a:r>
              <a:rPr lang="en-US" sz="3200" dirty="0"/>
              <a:t>3. Kumar, T., &amp; </a:t>
            </a:r>
            <a:r>
              <a:rPr lang="en-US" sz="3200" dirty="0" err="1"/>
              <a:t>Trakru</a:t>
            </a:r>
            <a:r>
              <a:rPr lang="en-US" sz="3200" dirty="0"/>
              <a:t>, M. (2020). The Colossal Impact of Artificial Intelligence. </a:t>
            </a:r>
          </a:p>
          <a:p>
            <a:pPr marL="0" indent="0">
              <a:buNone/>
            </a:pPr>
            <a:endParaRPr lang="en-IN" sz="3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69CF12D2-F1DB-33DA-F2D4-36035A1EBE69}"/>
              </a:ext>
            </a:extLst>
          </p:cNvPr>
          <p:cNvSpPr>
            <a:spLocks noGrp="1"/>
          </p:cNvSpPr>
          <p:nvPr>
            <p:ph type="dt" sz="half" idx="10"/>
          </p:nvPr>
        </p:nvSpPr>
        <p:spPr/>
        <p:txBody>
          <a:bodyPr/>
          <a:lstStyle/>
          <a:p>
            <a:fld id="{196CB346-A29B-614A-90B7-3F58220E4132}" type="datetime1">
              <a:rPr lang="en-IN" smtClean="0"/>
              <a:t>22-04-2026</a:t>
            </a:fld>
            <a:endParaRPr lang="en-US" dirty="0"/>
          </a:p>
        </p:txBody>
      </p:sp>
      <p:sp>
        <p:nvSpPr>
          <p:cNvPr id="7" name="Slide Number Placeholder 6">
            <a:extLst>
              <a:ext uri="{FF2B5EF4-FFF2-40B4-BE49-F238E27FC236}">
                <a16:creationId xmlns:a16="http://schemas.microsoft.com/office/drawing/2014/main" id="{68493559-19B2-50D7-BD0E-0D82C2ADBB1E}"/>
              </a:ext>
            </a:extLst>
          </p:cNvPr>
          <p:cNvSpPr>
            <a:spLocks noGrp="1"/>
          </p:cNvSpPr>
          <p:nvPr>
            <p:ph type="sldNum" sz="quarter" idx="12"/>
          </p:nvPr>
        </p:nvSpPr>
        <p:spPr/>
        <p:txBody>
          <a:bodyPr/>
          <a:lstStyle/>
          <a:p>
            <a:fld id="{B961B71F-4B40-8942-BB88-E0F5C0B46E10}" type="slidenum">
              <a:rPr lang="en-US" smtClean="0"/>
              <a:t>11</a:t>
            </a:fld>
            <a:endParaRPr lang="en-US"/>
          </a:p>
        </p:txBody>
      </p:sp>
      <p:pic>
        <p:nvPicPr>
          <p:cNvPr id="2" name="Picture 1">
            <a:extLst>
              <a:ext uri="{FF2B5EF4-FFF2-40B4-BE49-F238E27FC236}">
                <a16:creationId xmlns:a16="http://schemas.microsoft.com/office/drawing/2014/main" id="{D419C462-DC64-15A1-C950-8DE0A0202034}"/>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792543A9-D42E-FC1A-73CD-75569187C620}"/>
              </a:ext>
            </a:extLst>
          </p:cNvPr>
          <p:cNvSpPr>
            <a:spLocks noGrp="1"/>
          </p:cNvSpPr>
          <p:nvPr>
            <p:ph type="ftr" sz="quarter" idx="11"/>
          </p:nvPr>
        </p:nvSpPr>
        <p:spPr>
          <a:xfrm>
            <a:off x="4038600" y="6356350"/>
            <a:ext cx="4114800" cy="365125"/>
          </a:xfrm>
        </p:spPr>
        <p:txBody>
          <a:bodyPr/>
          <a:lstStyle/>
          <a:p>
            <a:r>
              <a:rPr lang="en-US" dirty="0"/>
              <a:t>REVIEW –1   </a:t>
            </a:r>
          </a:p>
        </p:txBody>
      </p:sp>
    </p:spTree>
    <p:extLst>
      <p:ext uri="{BB962C8B-B14F-4D97-AF65-F5344CB8AC3E}">
        <p14:creationId xmlns:p14="http://schemas.microsoft.com/office/powerpoint/2010/main" val="21169825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p:cNvSpPr>
            <a:spLocks noGrp="1"/>
          </p:cNvSpPr>
          <p:nvPr>
            <p:ph type="dt" sz="half" idx="10"/>
          </p:nvPr>
        </p:nvSpPr>
        <p:spPr/>
        <p:txBody>
          <a:bodyPr/>
          <a:lstStyle/>
          <a:p>
            <a:fld id="{D7BE9514-8A25-AD4E-B103-05AD99471A79}" type="datetime1">
              <a:rPr lang="en-IN" smtClean="0"/>
              <a:t>22-04-2026</a:t>
            </a:fld>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t>12</a:t>
            </a:fld>
            <a:endParaRPr lang="en-US"/>
          </a:p>
        </p:txBody>
      </p:sp>
      <p:pic>
        <p:nvPicPr>
          <p:cNvPr id="2" name="Picture 1"/>
          <p:cNvPicPr>
            <a:picLocks noChangeAspect="1"/>
          </p:cNvPicPr>
          <p:nvPr/>
        </p:nvPicPr>
        <p:blipFill>
          <a:blip r:embed="rId2"/>
          <a:stretch>
            <a:fillRect/>
          </a:stretch>
        </p:blipFill>
        <p:spPr>
          <a:xfrm>
            <a:off x="1" y="-396"/>
            <a:ext cx="1458484" cy="690861"/>
          </a:xfrm>
          <a:prstGeom prst="rect">
            <a:avLst/>
          </a:prstGeom>
        </p:spPr>
      </p:pic>
      <p:sp>
        <p:nvSpPr>
          <p:cNvPr id="4" name="Footer Placeholder 2">
            <a:extLst>
              <a:ext uri="{FF2B5EF4-FFF2-40B4-BE49-F238E27FC236}">
                <a16:creationId xmlns:a16="http://schemas.microsoft.com/office/drawing/2014/main" id="{AB03FB2E-4E33-CA9A-E5FC-A215D8D28E40}"/>
              </a:ext>
            </a:extLst>
          </p:cNvPr>
          <p:cNvSpPr>
            <a:spLocks noGrp="1"/>
          </p:cNvSpPr>
          <p:nvPr>
            <p:ph type="ftr" sz="quarter" idx="11"/>
          </p:nvPr>
        </p:nvSpPr>
        <p:spPr>
          <a:xfrm>
            <a:off x="4038600" y="6356350"/>
            <a:ext cx="4114800" cy="365125"/>
          </a:xfrm>
        </p:spPr>
        <p:txBody>
          <a:bodyPr/>
          <a:lstStyle/>
          <a:p>
            <a:r>
              <a:rPr lang="en-US" dirty="0"/>
              <a:t>REVIEW – 1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136</TotalTime>
  <Words>833</Words>
  <Application>Microsoft Office PowerPoint</Application>
  <PresentationFormat>Widescreen</PresentationFormat>
  <Paragraphs>127</Paragraphs>
  <Slides>12</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12</vt:i4>
      </vt:variant>
    </vt:vector>
  </HeadingPairs>
  <TitlesOfParts>
    <vt:vector size="19" baseType="lpstr">
      <vt:lpstr>Arial</vt:lpstr>
      <vt:lpstr>Calibri</vt:lpstr>
      <vt:lpstr>Calibri Light</vt:lpstr>
      <vt:lpstr>Times New Roman</vt:lpstr>
      <vt:lpstr>Wingdings</vt:lpstr>
      <vt:lpstr>Office Theme</vt:lpstr>
      <vt:lpstr>Custom Design</vt:lpstr>
      <vt:lpstr>AI DRIVEN ENGINEERING REVIEW – 1  Real-Time E-Commerce User Analytics and Recommendation System</vt:lpstr>
      <vt:lpstr>OUTLINE</vt:lpstr>
      <vt:lpstr>                           Abstract</vt:lpstr>
      <vt:lpstr>Introduction</vt:lpstr>
      <vt:lpstr>Objectives </vt:lpstr>
      <vt:lpstr>Proposed Method</vt:lpstr>
      <vt:lpstr>PowerPoint Presentation</vt:lpstr>
      <vt:lpstr>Literature Survey</vt:lpstr>
      <vt:lpstr>Implementation</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KARTHIKEYA SOMISETTY</dc:creator>
  <cp:lastModifiedBy>Krithik Reddy ..</cp:lastModifiedBy>
  <cp:revision>7</cp:revision>
  <dcterms:modified xsi:type="dcterms:W3CDTF">2026-04-22T14:22:54Z</dcterms:modified>
</cp:coreProperties>
</file>